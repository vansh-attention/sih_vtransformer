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762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2857500"/>
            <a:ext cx="6934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Helvetica Neue"/>
              </a:rPr>
              <a:t>AAV██AN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4095750"/>
            <a:ext cx="69342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1" i="0">
                <a:solidFill>
                  <a:srgbClr val="FFFFFF"/>
                </a:solidFill>
                <a:latin typeface="Helvetica Neue"/>
              </a:rPr>
              <a:t>Side panel UI kit</a:t>
            </a:r>
          </a:p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9B9B9B"/>
                </a:solidFill>
                <a:latin typeface="Helvetica Neue"/>
              </a:rPr>
              <a:t>For Jinshri and Vansh, designing in Canva.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571500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" y="61912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61912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The page you are on is the panel at </a:t>
            </a:r>
            <a:r>
              <a:rPr sz="1950" b="1" i="0">
                <a:solidFill>
                  <a:srgbClr val="FFFFFF"/>
                </a:solidFill>
                <a:latin typeface="Helvetica Neue"/>
              </a:rPr>
              <a:t>2×</a:t>
            </a:r>
            <a:r>
              <a:rPr sz="1950" b="0" i="0">
                <a:solidFill>
                  <a:srgbClr val="FFFFFF"/>
                </a:solidFill>
                <a:latin typeface="Helvetica Neue"/>
              </a:rPr>
              <a:t>. Everything here is double the real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70294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70294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Design </a:t>
            </a:r>
            <a:r>
              <a:rPr sz="1950" b="1" i="0">
                <a:solidFill>
                  <a:srgbClr val="FFFFFF"/>
                </a:solidFill>
                <a:latin typeface="Helvetica Neue"/>
              </a:rPr>
              <a:t>one state per page</a:t>
            </a:r>
            <a:r>
              <a:rPr sz="1950" b="0" i="0">
                <a:solidFill>
                  <a:srgbClr val="FFFFFF"/>
                </a:solidFill>
                <a:latin typeface="Helvetica Neue"/>
              </a:rPr>
              <a:t>. The state list starts on page 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78676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78676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Use only the palette on page 4 and the type scale on page 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7058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87058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Nothing may be narrower than the panel: it is </a:t>
            </a:r>
            <a:r>
              <a:rPr sz="1950" b="1" i="0">
                <a:solidFill>
                  <a:srgbClr val="FFFFFF"/>
                </a:solidFill>
                <a:latin typeface="Helvetica Neue"/>
              </a:rPr>
              <a:t>user-resizable</a:t>
            </a:r>
            <a:r>
              <a:rPr sz="1950" b="0" i="0">
                <a:solidFill>
                  <a:srgbClr val="FFFFFF"/>
                </a:solidFill>
                <a:latin typeface="Helvetica Neue"/>
              </a:rPr>
              <a:t>, 320–500 CSS px.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9925050"/>
            <a:ext cx="6934200" cy="2381250"/>
          </a:xfrm>
          <a:prstGeom prst="roundRect">
            <a:avLst>
              <a:gd name="adj" fmla="val 128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" y="10210800"/>
            <a:ext cx="63627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50" b="1" i="0">
                <a:solidFill>
                  <a:srgbClr val="FFB224"/>
                </a:solidFill>
                <a:latin typeface="Helvetica Neue"/>
              </a:rPr>
              <a:t>The one rule</a:t>
            </a:r>
          </a:p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This is a privacy tool. Every pixel either shows what was withheld, or proves nothing was sent. If an element does neither, delete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" y="16287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Helvetica Neue"/>
              </a:rPr>
              <a:t>Aavaran · Team Vagabonds · SIH26171 · built from the shipped panel, not from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666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READ THIS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69342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Three things make a UI</a:t>
            </a:r>
          </a:p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look AI-generated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2419350"/>
            <a:ext cx="6934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All three were in our panel. They are banned now. This is the whole reason we are redesigning.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3905250"/>
            <a:ext cx="6934200" cy="1809750"/>
          </a:xfrm>
          <a:prstGeom prst="roundRect">
            <a:avLst>
              <a:gd name="adj" fmla="val 11578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550" y="41529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550" b="1" i="0">
                <a:solidFill>
                  <a:srgbClr val="FF6B6B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152900"/>
            <a:ext cx="60198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Tiny wide-tracked UPPERCASE labels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9px letters with wide spacing, like TRY ONE OF THESE. MetaMask has zero of them. Sentence case, 24–27 px here, no extra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" y="5905500"/>
            <a:ext cx="6934200" cy="1809750"/>
          </a:xfrm>
          <a:prstGeom prst="roundRect">
            <a:avLst>
              <a:gd name="adj" fmla="val 11578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550" y="615315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550" b="1" i="0">
                <a:solidFill>
                  <a:srgbClr val="FF6B6B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6153150"/>
            <a:ext cx="60198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A bordered card around every list item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A list is full-bleed rows — no border, no divider, separated by space and a hover wash. A border means a genuinely distinct object.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" y="7905750"/>
            <a:ext cx="6934200" cy="1809750"/>
          </a:xfrm>
          <a:prstGeom prst="roundRect">
            <a:avLst>
              <a:gd name="adj" fmla="val 11578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550" y="81534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550" b="1" i="0">
                <a:solidFill>
                  <a:srgbClr val="FF6B6B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8153400"/>
            <a:ext cx="60198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A permanent hero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The logo gets one launch screen, then hands over to a 96 px sticky bar. Height belongs to content.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" y="100012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Also banned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" y="104775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104775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Emoji anywhere in the interface.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" y="109347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" y="109347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Centred marketing microcopy. This is a tool, not a landing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" y="117157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" y="117157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Decoration that imitates information — an empty circle where an icon would go, a card announcing that nothing has happened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" y="128206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28206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Gradients, glows and stock imagery.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" y="132778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" y="132778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A light theme. The panel is dark only.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" y="137350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137350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More than two accent colours on screen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666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6934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Sizes, in Canva 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790700"/>
            <a:ext cx="6934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Canva → Custom size → enter px. Or import this file and the pages are already 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272415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289560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A panel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895600"/>
            <a:ext cx="190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B224"/>
                </a:solidFill>
                <a:latin typeface="Menlo"/>
              </a:rPr>
              <a:t>800 × 1800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32385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the default — use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" y="365760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" y="382905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A very tall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29050"/>
            <a:ext cx="190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B224"/>
                </a:solidFill>
                <a:latin typeface="Menlo"/>
              </a:rPr>
              <a:t>800 × 3200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41719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run-complete, the ledger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" y="459105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" y="476250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Narrow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62500"/>
            <a:ext cx="190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B224"/>
                </a:solidFill>
                <a:latin typeface="Menlo"/>
              </a:rPr>
              <a:t>640 × 1800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" y="51054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must still work at 320 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" y="552450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" y="569595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Wide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695950"/>
            <a:ext cx="190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B224"/>
                </a:solidFill>
                <a:latin typeface="Menlo"/>
              </a:rPr>
              <a:t>1000 × 1800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" y="60388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must still work at 500 CSS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" y="645795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" y="662940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Extension icon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6629400"/>
            <a:ext cx="190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B224"/>
                </a:solidFill>
                <a:latin typeface="Menlo"/>
              </a:rPr>
              <a:t>1024 × 1024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" y="69723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ships at 128/48/32/16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" y="739140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" y="78676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The only fixed measurements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" y="84010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" y="84010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Side inset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36 px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left and right. Never change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" y="88582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" y="88582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So the content column is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728 px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wide.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" y="93154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" y="93154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Top bar is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96 px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tall and sticks to the top.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" y="97726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" y="97726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A full-bleed row may touch the edges, but its </a:t>
            </a:r>
            <a:r>
              <a:rPr sz="1800" b="0" i="1">
                <a:solidFill>
                  <a:srgbClr val="FFFFFF"/>
                </a:solidFill>
                <a:latin typeface="Helvetica Neue"/>
              </a:rPr>
              <a:t>text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still starts at 36.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" y="105537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650" y="105537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Spacing comes from this set only: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12 16 20 24 28 32 36 44 52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" y="113347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" y="113347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Corner radius: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22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small,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32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cards, fully round for pills.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" y="117919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" y="117919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Every number you type must be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even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— it gets halved for the browser.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2900" y="12725400"/>
            <a:ext cx="6934200" cy="1905000"/>
          </a:xfrm>
          <a:prstGeom prst="roundRect">
            <a:avLst>
              <a:gd name="adj" fmla="val 11000"/>
            </a:avLst>
          </a:prstGeom>
          <a:solidFill>
            <a:srgbClr val="050505"/>
          </a:solidFill>
          <a:ln w="19050">
            <a:solidFill>
              <a:srgbClr val="23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2900" y="12725400"/>
            <a:ext cx="342900" cy="1905000"/>
          </a:xfrm>
          <a:prstGeom prst="rect">
            <a:avLst/>
          </a:prstGeom>
          <a:solidFill>
            <a:srgbClr val="2A1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34200" y="12725400"/>
            <a:ext cx="342900" cy="1905000"/>
          </a:xfrm>
          <a:prstGeom prst="rect">
            <a:avLst/>
          </a:prstGeom>
          <a:solidFill>
            <a:srgbClr val="2A1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128778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B224"/>
                </a:solidFill>
                <a:latin typeface="Menlo"/>
              </a:rPr>
              <a:t>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1350645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content column — 728 px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" y="14782800"/>
            <a:ext cx="6934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The amber strips are the inset. Nothing but a full-bleed background enters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666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COLOUR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6934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The whole palette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790700"/>
            <a:ext cx="6934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There are no other colours. If you need one, write it down in NOTES.txt with what it means.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27241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0A0A0A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27622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1051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#0a0a0a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6150" y="29146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the panel itself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" y="36004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050505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9200" y="36385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--pit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9814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#050505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150" y="37909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recessed: inputs, code blocks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44767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141414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9200" y="45148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577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#141414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6150" y="46672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row hover wash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" y="53530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161616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9200" y="53911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57340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#161616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6150" y="55435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a real object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" y="62293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1C1C1C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9200" y="62674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--card-2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66103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#1c1c1c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6150" y="64198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an object on a 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" y="71056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232323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9200" y="71437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74866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#232323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6150" y="72961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hairline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" y="79819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333333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9200" y="80200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--edge-2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83629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#333333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6150" y="81724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a border meant to be seen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" y="88582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9200" y="88963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--ink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9200" y="92392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#ffffff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6150" y="90487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primary text, primary button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" y="97345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9B9B9B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9200" y="97726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9200" y="101155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#9b9b9b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86150" y="99250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secondary text — neutral, never blue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2900" y="106108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6A6A6A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9200" y="106489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FFFF"/>
                </a:solidFill>
                <a:latin typeface="Menlo"/>
              </a:rPr>
              <a:t>--ash-2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9200" y="109918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#6a6a6a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86150" y="10801350"/>
            <a:ext cx="3790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tertiary 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" y="116776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The three accents carry meaning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" y="122110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FFB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9200" y="122491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B224"/>
                </a:solidFill>
                <a:latin typeface="Menlo"/>
              </a:rPr>
              <a:t>--amber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9200" y="125920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#ffb224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6150" y="12325350"/>
            <a:ext cx="37909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something was WITHHELD. The product's output.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" y="130873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19200" y="131254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4ADE80"/>
                </a:solidFill>
                <a:latin typeface="Menlo"/>
              </a:rPr>
              <a:t>--mint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9200" y="134683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#4ade80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86150" y="13201650"/>
            <a:ext cx="37909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the proof held. Nothing left the machine.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" y="1396365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19200" y="1400175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 i="0">
                <a:solidFill>
                  <a:srgbClr val="FF6B6B"/>
                </a:solidFill>
                <a:latin typeface="Menlo"/>
              </a:rPr>
              <a:t>--coral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9200" y="14344650"/>
            <a:ext cx="2095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Menlo"/>
              </a:rPr>
              <a:t>#ff6b6b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86150" y="14077950"/>
            <a:ext cx="37909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25" b="0" i="0">
                <a:solidFill>
                  <a:srgbClr val="9B9B9B"/>
                </a:solidFill>
                <a:latin typeface="Helvetica Neue"/>
              </a:rPr>
              <a:t>it failed.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2900" y="14992350"/>
            <a:ext cx="6934200" cy="1428750"/>
          </a:xfrm>
          <a:prstGeom prst="roundRect">
            <a:avLst>
              <a:gd name="adj" fmla="val 14666"/>
            </a:avLst>
          </a:prstGeom>
          <a:solidFill>
            <a:srgbClr val="2A1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0550" y="15240000"/>
            <a:ext cx="64389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Never spend an accent on a control.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We made this mistake twice — a green button, then an amber one. Amber must keep meaning withheld. The primary button is white.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666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6934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The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790700"/>
            <a:ext cx="6934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Left column is what you type in Canva. Right is what ships. Nothing below 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2724150"/>
            <a:ext cx="40957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 i="0">
                <a:solidFill>
                  <a:srgbClr val="FFFFFF"/>
                </a:solidFill>
                <a:latin typeface="Helvetica Neue"/>
              </a:rPr>
              <a:t>Aavaran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9150" y="278130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80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9150" y="306705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wordmark — Archivo Black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3810000"/>
            <a:ext cx="4095750" cy="895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Helvetica Neue"/>
              </a:rPr>
              <a:t>4 withheld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386715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64 /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415290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hero 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4743450"/>
            <a:ext cx="409575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 i="0">
                <a:solidFill>
                  <a:srgbClr val="FFFFFF"/>
                </a:solidFill>
                <a:latin typeface="Helvetica Neue"/>
              </a:rPr>
              <a:t>A section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480060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42 /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508635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rare — result headings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" y="5486400"/>
            <a:ext cx="40957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Aavaran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54355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28 /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150" y="582930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top bar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" y="6229350"/>
            <a:ext cx="4095750" cy="542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25" b="0" i="0">
                <a:solidFill>
                  <a:srgbClr val="FFFFFF"/>
                </a:solidFill>
                <a:latin typeface="Helvetica Neue"/>
              </a:rPr>
              <a:t>Body copy, the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9150" y="628650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27 / 13.5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9150" y="657225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everything unmarked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" y="6972300"/>
            <a:ext cx="4095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A list 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9150" y="702945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26 /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9150" y="731520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full-bleed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" y="7715250"/>
            <a:ext cx="4095750" cy="523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0" i="0">
                <a:solidFill>
                  <a:srgbClr val="FFFFFF"/>
                </a:solidFill>
                <a:latin typeface="Helvetica Neue"/>
              </a:rPr>
              <a:t>Secondary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9150" y="777240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25 / 12.5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9150" y="805815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supporting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" y="8458200"/>
            <a:ext cx="409575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Meta and 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9150" y="851535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24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9150" y="880110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captions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" y="9201150"/>
            <a:ext cx="4095750" cy="5048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25" b="0" i="0">
                <a:solidFill>
                  <a:srgbClr val="FFFFFF"/>
                </a:solidFill>
                <a:latin typeface="Helvetica Neue"/>
              </a:rPr>
              <a:t>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9150" y="925830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23 / 11.5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9150" y="954405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status lamp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" y="9944100"/>
            <a:ext cx="409575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Menlo"/>
              </a:rPr>
              <a:t>&lt;PII_PAN_1&gt;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9150" y="10001250"/>
            <a:ext cx="114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FFB224"/>
                </a:solidFill>
                <a:latin typeface="Menlo"/>
              </a:rPr>
              <a:t>24 /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9150" y="10287000"/>
            <a:ext cx="266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Helvetica Neue"/>
              </a:rPr>
              <a:t>tokens — Geist Mono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" y="1078230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" y="111633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Fonts in Canva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" y="116967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" y="116967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We ship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Geist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(UI),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Geist Mono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(tokens) and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Archivo Black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(the wordmark only).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" y="124777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" y="124777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Canva does not have Geist. Use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Inter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as a stand-in for both, and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Roboto Mono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for the token font.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" y="132588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650" y="132588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Archivo Black </a:t>
            </a:r>
            <a:r>
              <a:rPr sz="1800" b="0" i="1">
                <a:solidFill>
                  <a:srgbClr val="FFFFFF"/>
                </a:solidFill>
                <a:latin typeface="Helvetica Neue"/>
              </a:rPr>
              <a:t>is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in Canva — use the real thing for the wordmark.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" y="140398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650" y="140398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Layout transfers; letterforms do not. Do not judge the typeface from Canva.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" y="148209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" y="148209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Tracking: leave it at 0. Only the wordmark is tightened, and we do that in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666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69342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Copy these, don't</a:t>
            </a:r>
          </a:p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reinvent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2419350"/>
            <a:ext cx="6934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Real shapes at real size. Duplicate them onto your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335280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Primary button — white, one per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" y="3733800"/>
            <a:ext cx="6934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" y="40195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2250" b="1" i="0">
                <a:solidFill>
                  <a:srgbClr val="000000"/>
                </a:solidFill>
                <a:latin typeface="Helvetica Neue"/>
              </a:rPr>
              <a:t>Run on this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49720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Secondary — outline, same pill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" y="5353050"/>
            <a:ext cx="6934200" cy="914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" y="56388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2250" b="0" i="0">
                <a:solidFill>
                  <a:srgbClr val="9B9B9B"/>
                </a:solidFill>
                <a:latin typeface="Helvetica Neue"/>
              </a:rPr>
              <a:t>Scan this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659130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Input — recessed pill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" y="6972300"/>
            <a:ext cx="6934200" cy="914400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 w="19050">
            <a:solidFill>
              <a:srgbClr val="23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7258050"/>
            <a:ext cx="609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i="0">
                <a:solidFill>
                  <a:srgbClr val="6A6A6A"/>
                </a:solidFill>
                <a:latin typeface="Helvetica Neue"/>
              </a:rPr>
              <a:t>e.g. Fill in the form and submit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" y="82105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Full-bleed row — no border, no divider, hover wash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8591550"/>
            <a:ext cx="7620000" cy="914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" y="885825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Fill in this form and submit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350" y="8858250"/>
            <a:ext cx="285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50" b="0" i="0">
                <a:solidFill>
                  <a:srgbClr val="6A6A6A"/>
                </a:solidFill>
                <a:latin typeface="Helvetica Neue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9505950"/>
            <a:ext cx="7620000" cy="190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696450"/>
            <a:ext cx="7620000" cy="9144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" y="996315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FFFFFF"/>
                </a:solidFill>
                <a:latin typeface="Helvetica Neue"/>
              </a:rPr>
              <a:t>Find the contact details on this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350" y="9963150"/>
            <a:ext cx="285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50" b="0" i="0">
                <a:solidFill>
                  <a:srgbClr val="6A6A6A"/>
                </a:solidFill>
                <a:latin typeface="Helvetica Neue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" y="1097280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Withheld tag — amber, always with a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" y="113538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2A1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" y="11525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1 PAN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4050" y="11353800"/>
            <a:ext cx="1600200" cy="609600"/>
          </a:xfrm>
          <a:prstGeom prst="roundRect">
            <a:avLst>
              <a:gd name="adj" fmla="val 50000"/>
            </a:avLst>
          </a:prstGeom>
          <a:solidFill>
            <a:srgbClr val="2A1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4050" y="11525250"/>
            <a:ext cx="1600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2 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76650" y="11353800"/>
            <a:ext cx="1771650" cy="609600"/>
          </a:xfrm>
          <a:prstGeom prst="roundRect">
            <a:avLst>
              <a:gd name="adj" fmla="val 50000"/>
            </a:avLst>
          </a:prstGeom>
          <a:solidFill>
            <a:srgbClr val="2A1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6650" y="11525250"/>
            <a:ext cx="1771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1 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" y="1230630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6A6A6A"/>
                </a:solidFill>
                <a:latin typeface="Helvetica Neue"/>
              </a:rPr>
              <a:t>Proof line — mint tick, claim in white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" y="126873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250" b="1" i="0">
                <a:solidFill>
                  <a:srgbClr val="4ADE80"/>
                </a:solidFill>
                <a:latin typeface="Helvetica Neue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" y="12687300"/>
            <a:ext cx="6286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75" b="1" i="0">
                <a:solidFill>
                  <a:srgbClr val="FFFFFF"/>
                </a:solidFill>
                <a:latin typeface="Helvetica Neue"/>
              </a:rPr>
              <a:t>Nothing left this machine. </a:t>
            </a:r>
            <a:r>
              <a:rPr sz="1875" b="0" i="0">
                <a:solidFill>
                  <a:srgbClr val="9B9B9B"/>
                </a:solidFill>
                <a:latin typeface="Helvetica Neue"/>
              </a:rPr>
              <a:t>DevTools → Network, press Scan again: no request appears.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666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6934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The extension 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790700"/>
            <a:ext cx="6934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One 1024 × 1024 artboard. Chrome renders it at 16 px in the toolbar, so it must survive being tiny.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3086100"/>
            <a:ext cx="6934200" cy="6934200"/>
          </a:xfrm>
          <a:prstGeom prst="roundRect">
            <a:avLst>
              <a:gd name="adj" fmla="val 4395"/>
            </a:avLst>
          </a:prstGeom>
          <a:solidFill>
            <a:srgbClr val="050505"/>
          </a:solidFill>
          <a:ln w="19050">
            <a:solidFill>
              <a:srgbClr val="23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9675" y="3952875"/>
            <a:ext cx="5200650" cy="5200650"/>
          </a:xfrm>
          <a:prstGeom prst="roundRect">
            <a:avLst>
              <a:gd name="adj" fmla="val 5860"/>
            </a:avLst>
          </a:prstGeom>
          <a:noFill/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" y="622935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safe area — keep the mark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05156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105156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One shape. At 16 px anything else is mud.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" y="109728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109728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It must read on both a light and a dark browser toolbar.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14300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114300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No text, no letters smaller than half the canvas.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" y="118872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118872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Deliver the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1024 px PNG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with a transparent background; the four sizes get generated.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" y="126682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126682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Current icon is in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extension/icons/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— a shield with a redaction bar across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6667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Helvetica Neue"/>
              </a:rPr>
              <a:t>SENDING IT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6934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1" i="0">
                <a:solidFill>
                  <a:srgbClr val="FFFFFF"/>
                </a:solidFill>
                <a:latin typeface="Helvetica Neue"/>
              </a:rPr>
              <a:t>How to hand it 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790700"/>
            <a:ext cx="6934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9B9B9B"/>
                </a:solidFill>
                <a:latin typeface="Helvetica Neue"/>
              </a:rPr>
              <a:t>This part is what lets the design get built without a round of guessing. Please follow it exactly.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30861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30861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Name each Canva page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exactly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the state name from the pages that follow, e.g.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3-scan-result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38671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38671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Name each element with its code hook: </a:t>
            </a:r>
            <a:r>
              <a:rPr sz="1800" b="0" i="0">
                <a:solidFill>
                  <a:srgbClr val="FFB224"/>
                </a:solidFill>
                <a:latin typeface="Menlo"/>
              </a:rPr>
              <a:t>#run, #scan, #goal, .topbar, .entry, .tag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. The list is on every state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49720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49720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Export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PNG, 1:1, no scaling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. Filename = page name.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54292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54292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Also download the whole thing as one PDF — that is the version to share.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62103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" y="62103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Share the Canva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edit link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too, so exact x/y/size can be read off the position panel.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" y="718185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" y="756285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And a NOTES.txt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" y="80962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" y="80962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One short paragraph per state: what changed and why.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" y="85534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" y="85534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Any colour that is not in the palette — hex, and what it means.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" y="93345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93345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Any size that is not on the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" y="97917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" y="97917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FFFFF"/>
                </a:solidFill>
                <a:latin typeface="Helvetica Neue"/>
              </a:rPr>
              <a:t>Anything you wanted to do and could not do in Canva.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" y="10439400"/>
            <a:ext cx="6934200" cy="1905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" y="108204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0">
                <a:solidFill>
                  <a:srgbClr val="FF6B6B"/>
                </a:solidFill>
                <a:latin typeface="Helvetica Neue"/>
              </a:rPr>
              <a:t>Please do not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" y="113538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" y="113538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The wording.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Lines like “would be withheld” and “nothing was transmitted” are precise claims. Flag a bad one; don't rewrite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" y="124968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" y="124968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The state list.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Every state exists because the panel reaches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" y="1331595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" y="1331595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Motion.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Describe it in words; the springs are physics in code.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" y="14135100"/>
            <a:ext cx="247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6A6A6A"/>
                </a:solidFill>
                <a:latin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" y="14135100"/>
            <a:ext cx="66484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Token names.</a:t>
            </a:r>
            <a:r>
              <a:rPr sz="1800" b="0" i="0">
                <a:solidFill>
                  <a:srgbClr val="FFFFFF"/>
                </a:solidFill>
                <a:latin typeface="Helvetica Neue"/>
              </a:rPr>
              <a:t> Use them; don't rename them.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" y="14725650"/>
            <a:ext cx="6934200" cy="190500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0550" y="14973300"/>
            <a:ext cx="64389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Before you send</a:t>
            </a:r>
          </a:p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Shrink the page to 640 wide in your head: does anything break? Squint at it: is there more than two accent colours? Read every label: is any of it shouting in uppercase?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0-launch-screen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The launch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Shows once, then fades at 1.05 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#splash .mark</a:t>
            </a:r>
          </a:p>
        </p:txBody>
      </p:sp>
      <p:pic>
        <p:nvPicPr>
          <p:cNvPr id="7" name="Picture 6" descr="0-launch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81250"/>
            <a:ext cx="7010400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92% — full size in design/reference/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1-idle-server-ready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Idle, ready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The first screen anyone sees. The most important page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#goal #run #scan #target #settings</a:t>
            </a:r>
          </a:p>
        </p:txBody>
      </p:sp>
      <p:pic>
        <p:nvPicPr>
          <p:cNvPr id="7" name="Picture 6" descr="1-idle-server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381250"/>
            <a:ext cx="6972300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92% — full size in design/reference/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2-server-offline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Server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Run and Scan swap roles — the working action becomes the white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#lamp #serveradvice #scan</a:t>
            </a:r>
          </a:p>
        </p:txBody>
      </p:sp>
      <p:pic>
        <p:nvPicPr>
          <p:cNvPr id="7" name="Picture 6" descr="2-server-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381250"/>
            <a:ext cx="6781800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89% — full size in design/reference/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3-scan-result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Scan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The path a sceptic presses. Withheld values, the tags,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.entry .fields .tag .proof</a:t>
            </a:r>
          </a:p>
        </p:txBody>
      </p:sp>
      <p:pic>
        <p:nvPicPr>
          <p:cNvPr id="7" name="Picture 6" descr="3-sca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381250"/>
            <a:ext cx="5400675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71% — full size in design/reference/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4-run-complete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Run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Long page — answer, totals, then the turn-by-turn ledger.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.answer .totals #ledger .turn</a:t>
            </a:r>
          </a:p>
        </p:txBody>
      </p:sp>
      <p:pic>
        <p:nvPicPr>
          <p:cNvPr id="7" name="Picture 6" descr="4-run-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2381250"/>
            <a:ext cx="3467100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46% — full size in design/reference/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5-settings-open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Settings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A disclosure, not a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#settings #serverstatus #testsrv</a:t>
            </a:r>
          </a:p>
        </p:txBody>
      </p:sp>
      <p:pic>
        <p:nvPicPr>
          <p:cNvPr id="7" name="Picture 6" descr="5-settings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381250"/>
            <a:ext cx="5819775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76% — full size in design/reference/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6-scan-ambiguous-field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Ambiguous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A value we withheld but will not name a kind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.tag .entry</a:t>
            </a:r>
          </a:p>
        </p:txBody>
      </p:sp>
      <p:pic>
        <p:nvPicPr>
          <p:cNvPr id="7" name="Picture 6" descr="6-scan-ambiguous-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381250"/>
            <a:ext cx="5743575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75% — full size in design/reference/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7-server-unreachable-repo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Server unreachable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Prints the exact commands, with copy buttons.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#serveradvice .cmd</a:t>
            </a:r>
          </a:p>
        </p:txBody>
      </p:sp>
      <p:pic>
        <p:nvPicPr>
          <p:cNvPr id="7" name="Picture 6" descr="7-server-unreachable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2381250"/>
            <a:ext cx="4895850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64% — full size in design/reference/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8-scan-only-package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Scan-only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What everyone who gets the zip sees. Run is off, Scan is promoted.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#run #scan #serveradvice</a:t>
            </a:r>
          </a:p>
        </p:txBody>
      </p:sp>
      <p:pic>
        <p:nvPicPr>
          <p:cNvPr id="7" name="Picture 6" descr="8-scan-only-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381250"/>
            <a:ext cx="5762625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76% — full size in design/reference/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9-model-not-installed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Model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Offers the 6 GB download as a button.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#serveradvice .install</a:t>
            </a:r>
          </a:p>
        </p:txBody>
      </p:sp>
      <p:pic>
        <p:nvPicPr>
          <p:cNvPr id="7" name="Picture 6" descr="9-model-not-insta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381250"/>
            <a:ext cx="5762625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76% — full size in design/reference/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10-page-unreadable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Page could not be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The most important honesty in the product: we refuse to say it is clean.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#empty .note</a:t>
            </a:r>
          </a:p>
        </p:txBody>
      </p:sp>
      <p:pic>
        <p:nvPicPr>
          <p:cNvPr id="7" name="Picture 6" descr="10-page-unread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0"/>
            <a:ext cx="6391275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84% — full size in design/reference/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11-model-downloading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Downloading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Progress bar. Stalls are detected by bytes, never a deadline.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.progress</a:t>
            </a:r>
          </a:p>
        </p:txBody>
      </p:sp>
      <p:pic>
        <p:nvPicPr>
          <p:cNvPr id="7" name="Picture 6" descr="11-model-down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381250"/>
            <a:ext cx="5534025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73% — full size in design/reference/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3810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FFB224"/>
                </a:solidFill>
                <a:latin typeface="Menlo"/>
              </a:rPr>
              <a:t>12-scan-only-but-server-up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762000"/>
            <a:ext cx="6934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50" b="1" i="0">
                <a:solidFill>
                  <a:srgbClr val="FFFFFF"/>
                </a:solidFill>
                <a:latin typeface="Helvetica Neue"/>
              </a:rPr>
              <a:t>Scan-only, server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257300"/>
            <a:ext cx="6934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9B9B9B"/>
                </a:solidFill>
                <a:latin typeface="Helvetica Neue"/>
              </a:rPr>
              <a:t>The package says scan-only but a server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18669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6A6A6A"/>
                </a:solidFill>
                <a:latin typeface="Menlo"/>
              </a:rPr>
              <a:t>#run #scan</a:t>
            </a:r>
          </a:p>
        </p:txBody>
      </p:sp>
      <p:pic>
        <p:nvPicPr>
          <p:cNvPr id="7" name="Picture 6" descr="12-scan-only-but-server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381250"/>
            <a:ext cx="6972300" cy="1438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" y="16821150"/>
            <a:ext cx="6934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 b="0" i="0">
                <a:solidFill>
                  <a:srgbClr val="6A6A6A"/>
                </a:solidFill>
                <a:latin typeface="Helvetica Neue"/>
              </a:rPr>
              <a:t>shown at 92% — full size in design/reference/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2900" cy="17145000"/>
          </a:xfrm>
          <a:prstGeom prst="rect">
            <a:avLst/>
          </a:prstGeom>
          <a:solidFill>
            <a:srgbClr val="120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342900" cy="17145000"/>
          </a:xfrm>
          <a:prstGeom prst="rect">
            <a:avLst/>
          </a:prstGeom>
          <a:solidFill>
            <a:srgbClr val="120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190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" y="323850"/>
            <a:ext cx="381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Menlo"/>
              </a:rPr>
              <a:t>top bar ends at 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65735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Menlo"/>
              </a:rPr>
              <a:t>blank canvas — 800 × 1800, inset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2900" cy="17145000"/>
          </a:xfrm>
          <a:prstGeom prst="rect">
            <a:avLst/>
          </a:prstGeom>
          <a:solidFill>
            <a:srgbClr val="120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342900" cy="17145000"/>
          </a:xfrm>
          <a:prstGeom prst="rect">
            <a:avLst/>
          </a:prstGeom>
          <a:solidFill>
            <a:srgbClr val="120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190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" y="323850"/>
            <a:ext cx="381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Menlo"/>
              </a:rPr>
              <a:t>top bar ends at 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65735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Menlo"/>
              </a:rPr>
              <a:t>blank canvas — 800 × 1800, inset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2900" cy="17145000"/>
          </a:xfrm>
          <a:prstGeom prst="rect">
            <a:avLst/>
          </a:prstGeom>
          <a:solidFill>
            <a:srgbClr val="120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342900" cy="17145000"/>
          </a:xfrm>
          <a:prstGeom prst="rect">
            <a:avLst/>
          </a:prstGeom>
          <a:solidFill>
            <a:srgbClr val="120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1905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" y="323850"/>
            <a:ext cx="381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Menlo"/>
              </a:rPr>
              <a:t>top bar ends at 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6573500"/>
            <a:ext cx="6934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 i="0">
                <a:solidFill>
                  <a:srgbClr val="6A6A6A"/>
                </a:solidFill>
                <a:latin typeface="Menlo"/>
              </a:rPr>
              <a:t>blank canvas — 800 × 1800, inset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