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9"/>
  </p:notesMasterIdLst>
  <p:sldIdLst>
    <p:sldId id="291" r:id="rId2"/>
    <p:sldId id="281" r:id="rId3"/>
    <p:sldId id="290" r:id="rId4"/>
    <p:sldId id="293" r:id="rId5"/>
    <p:sldId id="294" r:id="rId6"/>
    <p:sldId id="296" r:id="rId7"/>
  </p:sldIdLst>
  <p:sldSz cx="12192000" cy="6858000"/>
  <p:notesSz cx="6858000" cy="9144000"/>
  <p:defaultTextStyle>
    <a:defPPr>
      <a:defRPr lang="en-US"/>
    </a:defPPr>
    <a:lvl1pPr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1pPr>
    <a:lvl2pPr marL="4572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2pPr>
    <a:lvl3pPr marL="9144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3pPr>
    <a:lvl4pPr marL="13716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4pPr>
    <a:lvl5pPr marL="18288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5pPr>
    <a:lvl6pPr marL="2286000" algn="l" defTabSz="914400" rtl="0" eaLnBrk="1" latinLnBrk="0" hangingPunct="1">
      <a:defRPr kern="1200">
        <a:solidFill>
          <a:schemeClr val="tx1"/>
        </a:solidFill>
        <a:latin typeface="Calibri" pitchFamily="34" charset="0"/>
        <a:ea typeface="ＭＳ Ｐゴシック" pitchFamily="1" charset="-128"/>
        <a:cs typeface="+mn-cs"/>
      </a:defRPr>
    </a:lvl6pPr>
    <a:lvl7pPr marL="2743200" algn="l" defTabSz="914400" rtl="0" eaLnBrk="1" latinLnBrk="0" hangingPunct="1">
      <a:defRPr kern="1200">
        <a:solidFill>
          <a:schemeClr val="tx1"/>
        </a:solidFill>
        <a:latin typeface="Calibri" pitchFamily="34" charset="0"/>
        <a:ea typeface="ＭＳ Ｐゴシック" pitchFamily="1" charset="-128"/>
        <a:cs typeface="+mn-cs"/>
      </a:defRPr>
    </a:lvl7pPr>
    <a:lvl8pPr marL="3200400" algn="l" defTabSz="914400" rtl="0" eaLnBrk="1" latinLnBrk="0" hangingPunct="1">
      <a:defRPr kern="1200">
        <a:solidFill>
          <a:schemeClr val="tx1"/>
        </a:solidFill>
        <a:latin typeface="Calibri" pitchFamily="34" charset="0"/>
        <a:ea typeface="ＭＳ Ｐゴシック" pitchFamily="1" charset="-128"/>
        <a:cs typeface="+mn-cs"/>
      </a:defRPr>
    </a:lvl8pPr>
    <a:lvl9pPr marL="3657600" algn="l" defTabSz="914400" rtl="0" eaLnBrk="1" latinLnBrk="0" hangingPunct="1">
      <a:defRPr kern="1200">
        <a:solidFill>
          <a:schemeClr val="tx1"/>
        </a:solidFill>
        <a:latin typeface="Calibri" pitchFamily="34" charset="0"/>
        <a:ea typeface="ＭＳ Ｐゴシック" pitchFamily="1" charset="-128"/>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BBB59"/>
    <a:srgbClr val="39B0D4"/>
    <a:srgbClr val="727272"/>
    <a:srgbClr val="010000"/>
    <a:srgbClr val="FFA751"/>
    <a:srgbClr val="32323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68" d="100"/>
          <a:sy n="68" d="100"/>
        </p:scale>
        <p:origin x="792" y="72"/>
      </p:cViewPr>
      <p:guideLst>
        <p:guide orient="horz" pos="2160"/>
        <p:guide pos="3840"/>
      </p:guideLst>
    </p:cSldViewPr>
  </p:slideViewPr>
  <p:notesTextViewPr>
    <p:cViewPr>
      <p:scale>
        <a:sx n="100" d="100"/>
        <a:sy n="100" d="100"/>
      </p:scale>
      <p:origin x="0" y="0"/>
    </p:cViewPr>
  </p:notesTextViewPr>
  <p:sorterViewPr>
    <p:cViewPr>
      <p:scale>
        <a:sx n="125" d="100"/>
        <a:sy n="125" d="100"/>
      </p:scale>
      <p:origin x="0" y="0"/>
    </p:cViewPr>
  </p:sorter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200"/>
            </a:lvl1pPr>
          </a:lstStyle>
          <a:p>
            <a:fld id="{C4D5ADD5-2BBC-4A94-8F86-D9013941F742}" type="datetimeFigureOut">
              <a:rPr lang="en-US"/>
              <a:pPr/>
              <a:t>6/2/2026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EC790738-CFC9-4A5E-8424-6B42AA5706F7}" type="slidenum">
              <a:rPr lang="en-US"/>
              <a:pPr/>
              <a:t>‹#›</a:t>
            </a:fld>
            <a:endParaRPr lang="en-US"/>
          </a:p>
        </p:txBody>
      </p:sp>
    </p:spTree>
    <p:extLst>
      <p:ext uri="{BB962C8B-B14F-4D97-AF65-F5344CB8AC3E}">
        <p14:creationId xmlns:p14="http://schemas.microsoft.com/office/powerpoint/2010/main" val="235749454"/>
      </p:ext>
    </p:extLst>
  </p:cSld>
  <p:clrMap bg1="lt1" tx1="dk1" bg2="lt2" tx2="dk2" accent1="accent1" accent2="accent2" accent3="accent3" accent4="accent4" accent5="accent5" accent6="accent6" hlink="hlink" folHlink="folHlink"/>
  <p:notesStyle>
    <a:lvl1pPr algn="l" defTabSz="457200" rtl="0" eaLnBrk="0" fontAlgn="base" hangingPunct="0">
      <a:spcBef>
        <a:spcPct val="30000"/>
      </a:spcBef>
      <a:spcAft>
        <a:spcPct val="0"/>
      </a:spcAft>
      <a:defRPr sz="1200" kern="1200">
        <a:solidFill>
          <a:schemeClr val="tx1"/>
        </a:solidFill>
        <a:latin typeface="+mn-lt"/>
        <a:ea typeface="ＭＳ Ｐゴシック" charset="0"/>
        <a:cs typeface="ＭＳ Ｐゴシック" charset="0"/>
      </a:defRPr>
    </a:lvl1pPr>
    <a:lvl2pPr marL="4572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2pPr>
    <a:lvl3pPr marL="9144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3pPr>
    <a:lvl4pPr marL="13716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4pPr>
    <a:lvl5pPr marL="18288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6386"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6387" name="Slide Number Placeholder 3"/>
          <p:cNvSpPr>
            <a:spLocks noGrp="1"/>
          </p:cNvSpPr>
          <p:nvPr>
            <p:ph type="sldNum" sz="quarter" idx="5"/>
          </p:nvPr>
        </p:nvSpPr>
        <p:spPr bwMode="auto">
          <a:noFill/>
          <a:ln>
            <a:miter lim="800000"/>
            <a:headEnd/>
            <a:tailEnd/>
          </a:ln>
        </p:spPr>
        <p:txBody>
          <a:bodyPr/>
          <a:lstStyle/>
          <a:p>
            <a:fld id="{65F62A7E-A2F8-438F-9CF8-47DE63F471B4}" type="slidenum">
              <a:rPr lang="en-US"/>
              <a:pPr/>
              <a:t>2</a:t>
            </a:fld>
            <a:endParaRPr lang="en-US"/>
          </a:p>
        </p:txBody>
      </p:sp>
    </p:spTree>
    <p:extLst>
      <p:ext uri="{BB962C8B-B14F-4D97-AF65-F5344CB8AC3E}">
        <p14:creationId xmlns:p14="http://schemas.microsoft.com/office/powerpoint/2010/main" val="29040732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fld id="{0CA7B74D-3791-4AC6-8451-F10DBCCCDD9A}" type="slidenum">
              <a:rPr lang="en-US"/>
              <a:pPr/>
              <a:t>3</a:t>
            </a:fld>
            <a:endParaRPr lang="en-US"/>
          </a:p>
        </p:txBody>
      </p:sp>
    </p:spTree>
    <p:extLst>
      <p:ext uri="{BB962C8B-B14F-4D97-AF65-F5344CB8AC3E}">
        <p14:creationId xmlns:p14="http://schemas.microsoft.com/office/powerpoint/2010/main" val="23352062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37735054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26417228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190867272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37835768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8"/>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fld id="{E60792E3-D524-454C-8AFD-A91972900BCB}"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5B7E1BAA-A38D-40DE-B22C-DF9BD7D82058}" type="slidenum">
              <a:rPr lang="en-US"/>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708B7524-32A2-4C20-A58C-BC3BAA1042FC}"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677C3CE7-23F7-4828-823C-E0205DF2CF97}" type="slidenum">
              <a:rPr lang="en-US"/>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fld id="{1E994447-D6B2-43BB-A877-57F1A267B999}"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41DB31D2-2A87-4F4C-A9AD-05C6CC2B321D}" type="slidenum">
              <a:rPr lang="en-US"/>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fld id="{68920E16-BD35-483C-AA6B-346FC7E46DEA}" type="datetime1">
              <a:rPr lang="en-US" smtClean="0"/>
              <a:t>6/2/2026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E1FC16D9-1635-4844-816A-0A8A2160FADA}" type="slidenum">
              <a:rPr lang="en-US"/>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fld id="{2FEAC6F8-5103-4FC0-A69E-5C6AE6469DA8}" type="datetime1">
              <a:rPr lang="en-US" smtClean="0"/>
              <a:t>6/2/2026</a:t>
            </a:fld>
            <a:endParaRPr lang="en-US"/>
          </a:p>
        </p:txBody>
      </p:sp>
      <p:sp>
        <p:nvSpPr>
          <p:cNvPr id="8"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9" name="Slide Number Placeholder 5"/>
          <p:cNvSpPr>
            <a:spLocks noGrp="1"/>
          </p:cNvSpPr>
          <p:nvPr>
            <p:ph type="sldNum" sz="quarter" idx="12"/>
          </p:nvPr>
        </p:nvSpPr>
        <p:spPr/>
        <p:txBody>
          <a:bodyPr/>
          <a:lstStyle>
            <a:lvl1pPr>
              <a:defRPr/>
            </a:lvl1pPr>
          </a:lstStyle>
          <a:p>
            <a:fld id="{71C4100A-98DE-4944-910A-A93F5CA9F724}" type="slidenum">
              <a:rPr lang="en-US"/>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fld id="{C60C6921-0627-4C8F-83D5-0CF936D2FFDD}" type="datetime1">
              <a:rPr lang="en-US" smtClean="0"/>
              <a:t>6/2/2026</a:t>
            </a:fld>
            <a:endParaRPr lang="en-US"/>
          </a:p>
        </p:txBody>
      </p:sp>
      <p:sp>
        <p:nvSpPr>
          <p:cNvPr id="4"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5" name="Slide Number Placeholder 5"/>
          <p:cNvSpPr>
            <a:spLocks noGrp="1"/>
          </p:cNvSpPr>
          <p:nvPr>
            <p:ph type="sldNum" sz="quarter" idx="12"/>
          </p:nvPr>
        </p:nvSpPr>
        <p:spPr/>
        <p:txBody>
          <a:bodyPr/>
          <a:lstStyle>
            <a:lvl1pPr>
              <a:defRPr/>
            </a:lvl1pPr>
          </a:lstStyle>
          <a:p>
            <a:fld id="{6A63342B-5A73-45DC-864D-086DE78037EF}" type="slidenum">
              <a:rPr lang="en-US"/>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fld id="{2FF08AD7-8103-40F8-983C-E2BA6BB9CBE0}" type="datetime1">
              <a:rPr lang="en-US" smtClean="0"/>
              <a:t>6/2/2026</a:t>
            </a:fld>
            <a:endParaRPr lang="en-US"/>
          </a:p>
        </p:txBody>
      </p:sp>
      <p:sp>
        <p:nvSpPr>
          <p:cNvPr id="3"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4" name="Slide Number Placeholder 5"/>
          <p:cNvSpPr>
            <a:spLocks noGrp="1"/>
          </p:cNvSpPr>
          <p:nvPr>
            <p:ph type="sldNum" sz="quarter" idx="12"/>
          </p:nvPr>
        </p:nvSpPr>
        <p:spPr/>
        <p:txBody>
          <a:bodyPr/>
          <a:lstStyle>
            <a:lvl1pPr>
              <a:defRPr/>
            </a:lvl1pPr>
          </a:lstStyle>
          <a:p>
            <a:fld id="{B635AFB3-1ACD-44AC-8702-86B1729DF035}" type="slidenum">
              <a:rPr lang="en-US"/>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3"/>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2"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DF8C06B4-9380-4A4D-AF49-A3596E17DAF5}" type="datetime1">
              <a:rPr lang="en-US" smtClean="0"/>
              <a:t>6/2/2026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05CF15F3-5E77-4C57-9E21-50D6D1D6C022}" type="slidenum">
              <a:rPr lang="en-US"/>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EF7FDEF1-C582-4E22-9E77-D68326471F28}" type="datetime1">
              <a:rPr lang="en-US" smtClean="0"/>
              <a:t>6/2/2026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1242169A-B3C7-4FB6-967F-AF95F4EB3315}" type="slidenum">
              <a:rPr lang="en-US"/>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053C3A68-6922-42D3-8905-ECC2D82A3469}"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94FDD027-5576-4F27-AAB6-1D994836EE78}" type="slidenum">
              <a:rPr lang="en-US"/>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1"/>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1"/>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CB69E9F4-7604-4950-A8B2-8ACDEDB1506E}"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2957CE61-8714-431B-A40A-01B1C5541AB7}" type="slidenum">
              <a:rPr lang="en-US"/>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09600" y="-47625"/>
            <a:ext cx="109728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609600" y="1095375"/>
            <a:ext cx="10972800" cy="503078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3"/>
            <a:ext cx="2844800" cy="365125"/>
          </a:xfrm>
          <a:prstGeom prst="rect">
            <a:avLst/>
          </a:prstGeom>
        </p:spPr>
        <p:txBody>
          <a:bodyPr vert="horz" wrap="square" lIns="91440" tIns="45720" rIns="91440" bIns="45720" numCol="1" anchor="ctr" anchorCtr="0" compatLnSpc="1">
            <a:prstTxWarp prst="textNoShape">
              <a:avLst/>
            </a:prstTxWarp>
          </a:bodyPr>
          <a:lstStyle>
            <a:lvl1pPr>
              <a:defRPr sz="1200">
                <a:solidFill>
                  <a:srgbClr val="898989"/>
                </a:solidFill>
                <a:latin typeface="TradeGothic" pitchFamily="1" charset="0"/>
              </a:defRPr>
            </a:lvl1pPr>
          </a:lstStyle>
          <a:p>
            <a:fld id="{780A9602-A9A9-453F-AEF1-37B5837E02CD}" type="datetime1">
              <a:rPr lang="en-US" smtClean="0"/>
              <a:t>6/2/2026</a:t>
            </a:fld>
            <a:endParaRPr lang="en-US"/>
          </a:p>
        </p:txBody>
      </p:sp>
      <p:sp>
        <p:nvSpPr>
          <p:cNvPr id="5" name="Footer Placeholder 4"/>
          <p:cNvSpPr>
            <a:spLocks noGrp="1"/>
          </p:cNvSpPr>
          <p:nvPr>
            <p:ph type="ftr" sz="quarter" idx="3"/>
          </p:nvPr>
        </p:nvSpPr>
        <p:spPr>
          <a:xfrm>
            <a:off x="4165600" y="6356353"/>
            <a:ext cx="3860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TradeGothic"/>
                <a:ea typeface="+mn-ea"/>
                <a:cs typeface="+mn-cs"/>
              </a:defRPr>
            </a:lvl1pPr>
          </a:lstStyle>
          <a:p>
            <a:pPr>
              <a:defRPr/>
            </a:pPr>
            <a:r>
              <a:rPr lang="en-US"/>
              <a:t>@SIH Idea submission- Template</a:t>
            </a:r>
          </a:p>
        </p:txBody>
      </p:sp>
      <p:sp>
        <p:nvSpPr>
          <p:cNvPr id="6" name="Slide Number Placeholder 5"/>
          <p:cNvSpPr>
            <a:spLocks noGrp="1"/>
          </p:cNvSpPr>
          <p:nvPr>
            <p:ph type="sldNum" sz="quarter" idx="4"/>
          </p:nvPr>
        </p:nvSpPr>
        <p:spPr>
          <a:xfrm>
            <a:off x="8737600" y="6356353"/>
            <a:ext cx="28448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latin typeface="TradeGothic" pitchFamily="1" charset="0"/>
              </a:defRPr>
            </a:lvl1pPr>
          </a:lstStyle>
          <a:p>
            <a:fld id="{1411BA53-830D-4830-BB65-E58DBE17D0B7}" type="slidenum">
              <a:rPr lang="en-US"/>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457200" rtl="0" eaLnBrk="0" fontAlgn="base" hangingPunct="0">
        <a:spcBef>
          <a:spcPct val="0"/>
        </a:spcBef>
        <a:spcAft>
          <a:spcPct val="0"/>
        </a:spcAft>
        <a:defRPr sz="4400" kern="1200">
          <a:solidFill>
            <a:schemeClr val="tx1"/>
          </a:solidFill>
          <a:latin typeface="TradeGothic"/>
          <a:ea typeface="ＭＳ Ｐゴシック" charset="0"/>
          <a:cs typeface="ＭＳ Ｐゴシック" charset="0"/>
        </a:defRPr>
      </a:lvl1pPr>
      <a:lvl2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2pPr>
      <a:lvl3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3pPr>
      <a:lvl4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4pPr>
      <a:lvl5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5pPr>
      <a:lvl6pPr marL="4572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6pPr>
      <a:lvl7pPr marL="9144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7pPr>
      <a:lvl8pPr marL="13716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8pPr>
      <a:lvl9pPr marL="18288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9pPr>
    </p:titleStyle>
    <p:bodyStyle>
      <a:lvl1pPr marL="342900" indent="-342900" algn="l" defTabSz="457200" rtl="0" eaLnBrk="0" fontAlgn="base" hangingPunct="0">
        <a:spcBef>
          <a:spcPct val="20000"/>
        </a:spcBef>
        <a:spcAft>
          <a:spcPct val="0"/>
        </a:spcAft>
        <a:buFont typeface="Arial" pitchFamily="34" charset="0"/>
        <a:buChar char="•"/>
        <a:defRPr sz="3200" kern="1200">
          <a:solidFill>
            <a:schemeClr val="tx1"/>
          </a:solidFill>
          <a:latin typeface="TradeGothic"/>
          <a:ea typeface="ＭＳ Ｐゴシック" charset="0"/>
          <a:cs typeface="ＭＳ Ｐゴシック" charset="0"/>
        </a:defRPr>
      </a:lvl1pPr>
      <a:lvl2pPr marL="742950" indent="-285750" algn="l" defTabSz="457200" rtl="0" eaLnBrk="0" fontAlgn="base" hangingPunct="0">
        <a:spcBef>
          <a:spcPct val="20000"/>
        </a:spcBef>
        <a:spcAft>
          <a:spcPct val="0"/>
        </a:spcAft>
        <a:buFont typeface="Arial" pitchFamily="34" charset="0"/>
        <a:buChar char="–"/>
        <a:defRPr sz="2800" kern="1200">
          <a:solidFill>
            <a:schemeClr val="tx1"/>
          </a:solidFill>
          <a:latin typeface="TradeGothic"/>
          <a:ea typeface="ＭＳ Ｐゴシック" charset="0"/>
          <a:cs typeface="+mn-cs"/>
        </a:defRPr>
      </a:lvl2pPr>
      <a:lvl3pPr marL="1143000" indent="-228600" algn="l" defTabSz="457200" rtl="0" eaLnBrk="0" fontAlgn="base" hangingPunct="0">
        <a:spcBef>
          <a:spcPct val="20000"/>
        </a:spcBef>
        <a:spcAft>
          <a:spcPct val="0"/>
        </a:spcAft>
        <a:buFont typeface="Arial" pitchFamily="34" charset="0"/>
        <a:buChar char="•"/>
        <a:defRPr sz="2400" kern="1200">
          <a:solidFill>
            <a:schemeClr val="tx1"/>
          </a:solidFill>
          <a:latin typeface="TradeGothic"/>
          <a:ea typeface="ＭＳ Ｐゴシック" charset="0"/>
          <a:cs typeface="+mn-cs"/>
        </a:defRPr>
      </a:lvl3pPr>
      <a:lvl4pPr marL="16002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4pPr>
      <a:lvl5pPr marL="20574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6" name="Rectangle 24">
            <a:extLst>
              <a:ext uri="{FF2B5EF4-FFF2-40B4-BE49-F238E27FC236}">
                <a16:creationId xmlns:a16="http://schemas.microsoft.com/office/drawing/2014/main" id="{3E443FD7-A66B-4AA0-872D-B088B9BC5F1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00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Freeform: Shape 26">
            <a:extLst>
              <a:ext uri="{FF2B5EF4-FFF2-40B4-BE49-F238E27FC236}">
                <a16:creationId xmlns:a16="http://schemas.microsoft.com/office/drawing/2014/main" id="{C04BE0EF-3561-49B4-9A29-F283168A91C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56780" y="851521"/>
            <a:ext cx="4638605" cy="5154967"/>
          </a:xfrm>
          <a:custGeom>
            <a:avLst/>
            <a:gdLst>
              <a:gd name="connsiteX0" fmla="*/ 363179 w 6184806"/>
              <a:gd name="connsiteY0" fmla="*/ 3125191 h 5154967"/>
              <a:gd name="connsiteX1" fmla="*/ 898270 w 6184806"/>
              <a:gd name="connsiteY1" fmla="*/ 3125191 h 5154967"/>
              <a:gd name="connsiteX2" fmla="*/ 980326 w 6184806"/>
              <a:gd name="connsiteY2" fmla="*/ 3173551 h 5154967"/>
              <a:gd name="connsiteX3" fmla="*/ 1248448 w 6184806"/>
              <a:gd name="connsiteY3" fmla="*/ 3635277 h 5154967"/>
              <a:gd name="connsiteX4" fmla="*/ 1248448 w 6184806"/>
              <a:gd name="connsiteY4" fmla="*/ 3729695 h 5154967"/>
              <a:gd name="connsiteX5" fmla="*/ 980326 w 6184806"/>
              <a:gd name="connsiteY5" fmla="*/ 4191421 h 5154967"/>
              <a:gd name="connsiteX6" fmla="*/ 898270 w 6184806"/>
              <a:gd name="connsiteY6" fmla="*/ 4239781 h 5154967"/>
              <a:gd name="connsiteX7" fmla="*/ 363179 w 6184806"/>
              <a:gd name="connsiteY7" fmla="*/ 4239781 h 5154967"/>
              <a:gd name="connsiteX8" fmla="*/ 279969 w 6184806"/>
              <a:gd name="connsiteY8" fmla="*/ 4191421 h 5154967"/>
              <a:gd name="connsiteX9" fmla="*/ 13002 w 6184806"/>
              <a:gd name="connsiteY9" fmla="*/ 3729695 h 5154967"/>
              <a:gd name="connsiteX10" fmla="*/ 13002 w 6184806"/>
              <a:gd name="connsiteY10" fmla="*/ 3635277 h 5154967"/>
              <a:gd name="connsiteX11" fmla="*/ 279969 w 6184806"/>
              <a:gd name="connsiteY11" fmla="*/ 3173551 h 5154967"/>
              <a:gd name="connsiteX12" fmla="*/ 363179 w 6184806"/>
              <a:gd name="connsiteY12" fmla="*/ 3125191 h 5154967"/>
              <a:gd name="connsiteX13" fmla="*/ 2489721 w 6184806"/>
              <a:gd name="connsiteY13" fmla="*/ 570035 h 5154967"/>
              <a:gd name="connsiteX14" fmla="*/ 2764862 w 6184806"/>
              <a:gd name="connsiteY14" fmla="*/ 570035 h 5154967"/>
              <a:gd name="connsiteX15" fmla="*/ 2796959 w 6184806"/>
              <a:gd name="connsiteY15" fmla="*/ 570035 h 5154967"/>
              <a:gd name="connsiteX16" fmla="*/ 2827587 w 6184806"/>
              <a:gd name="connsiteY16" fmla="*/ 622777 h 5154967"/>
              <a:gd name="connsiteX17" fmla="*/ 2977604 w 6184806"/>
              <a:gd name="connsiteY17" fmla="*/ 881117 h 5154967"/>
              <a:gd name="connsiteX18" fmla="*/ 2977604 w 6184806"/>
              <a:gd name="connsiteY18" fmla="*/ 1025720 h 5154967"/>
              <a:gd name="connsiteX19" fmla="*/ 2566968 w 6184806"/>
              <a:gd name="connsiteY19" fmla="*/ 1732863 h 5154967"/>
              <a:gd name="connsiteX20" fmla="*/ 2441299 w 6184806"/>
              <a:gd name="connsiteY20" fmla="*/ 1806927 h 5154967"/>
              <a:gd name="connsiteX21" fmla="*/ 1621798 w 6184806"/>
              <a:gd name="connsiteY21" fmla="*/ 1806927 h 5154967"/>
              <a:gd name="connsiteX22" fmla="*/ 1583218 w 6184806"/>
              <a:gd name="connsiteY22" fmla="*/ 1801802 h 5154967"/>
              <a:gd name="connsiteX23" fmla="*/ 1556683 w 6184806"/>
              <a:gd name="connsiteY23" fmla="*/ 1790677 h 5154967"/>
              <a:gd name="connsiteX24" fmla="*/ 1572899 w 6184806"/>
              <a:gd name="connsiteY24" fmla="*/ 1762630 h 5154967"/>
              <a:gd name="connsiteX25" fmla="*/ 2147429 w 6184806"/>
              <a:gd name="connsiteY25" fmla="*/ 768968 h 5154967"/>
              <a:gd name="connsiteX26" fmla="*/ 2489721 w 6184806"/>
              <a:gd name="connsiteY26" fmla="*/ 570035 h 5154967"/>
              <a:gd name="connsiteX27" fmla="*/ 1573268 w 6184806"/>
              <a:gd name="connsiteY27" fmla="*/ 0 h 5154967"/>
              <a:gd name="connsiteX28" fmla="*/ 2497662 w 6184806"/>
              <a:gd name="connsiteY28" fmla="*/ 0 h 5154967"/>
              <a:gd name="connsiteX29" fmla="*/ 2639415 w 6184806"/>
              <a:gd name="connsiteY29" fmla="*/ 83546 h 5154967"/>
              <a:gd name="connsiteX30" fmla="*/ 2887862 w 6184806"/>
              <a:gd name="connsiteY30" fmla="*/ 511387 h 5154967"/>
              <a:gd name="connsiteX31" fmla="*/ 2915928 w 6184806"/>
              <a:gd name="connsiteY31" fmla="*/ 559720 h 5154967"/>
              <a:gd name="connsiteX32" fmla="*/ 2893844 w 6184806"/>
              <a:gd name="connsiteY32" fmla="*/ 559720 h 5154967"/>
              <a:gd name="connsiteX33" fmla="*/ 2789466 w 6184806"/>
              <a:gd name="connsiteY33" fmla="*/ 559720 h 5154967"/>
              <a:gd name="connsiteX34" fmla="*/ 2744122 w 6184806"/>
              <a:gd name="connsiteY34" fmla="*/ 481634 h 5154967"/>
              <a:gd name="connsiteX35" fmla="*/ 2570885 w 6184806"/>
              <a:gd name="connsiteY35" fmla="*/ 183309 h 5154967"/>
              <a:gd name="connsiteX36" fmla="*/ 2445216 w 6184806"/>
              <a:gd name="connsiteY36" fmla="*/ 109243 h 5154967"/>
              <a:gd name="connsiteX37" fmla="*/ 1625714 w 6184806"/>
              <a:gd name="connsiteY37" fmla="*/ 109243 h 5154967"/>
              <a:gd name="connsiteX38" fmla="*/ 1498276 w 6184806"/>
              <a:gd name="connsiteY38" fmla="*/ 183309 h 5154967"/>
              <a:gd name="connsiteX39" fmla="*/ 1089410 w 6184806"/>
              <a:gd name="connsiteY39" fmla="*/ 890450 h 5154967"/>
              <a:gd name="connsiteX40" fmla="*/ 1089410 w 6184806"/>
              <a:gd name="connsiteY40" fmla="*/ 1035054 h 5154967"/>
              <a:gd name="connsiteX41" fmla="*/ 1498276 w 6184806"/>
              <a:gd name="connsiteY41" fmla="*/ 1742196 h 5154967"/>
              <a:gd name="connsiteX42" fmla="*/ 1552039 w 6184806"/>
              <a:gd name="connsiteY42" fmla="*/ 1796422 h 5154967"/>
              <a:gd name="connsiteX43" fmla="*/ 1558260 w 6184806"/>
              <a:gd name="connsiteY43" fmla="*/ 1799029 h 5154967"/>
              <a:gd name="connsiteX44" fmla="*/ 1524911 w 6184806"/>
              <a:gd name="connsiteY44" fmla="*/ 1856707 h 5154967"/>
              <a:gd name="connsiteX45" fmla="*/ 1500108 w 6184806"/>
              <a:gd name="connsiteY45" fmla="*/ 1899604 h 5154967"/>
              <a:gd name="connsiteX46" fmla="*/ 1525834 w 6184806"/>
              <a:gd name="connsiteY46" fmla="*/ 1910390 h 5154967"/>
              <a:gd name="connsiteX47" fmla="*/ 1569352 w 6184806"/>
              <a:gd name="connsiteY47" fmla="*/ 1916170 h 5154967"/>
              <a:gd name="connsiteX48" fmla="*/ 2493745 w 6184806"/>
              <a:gd name="connsiteY48" fmla="*/ 1916170 h 5154967"/>
              <a:gd name="connsiteX49" fmla="*/ 2635498 w 6184806"/>
              <a:gd name="connsiteY49" fmla="*/ 1832627 h 5154967"/>
              <a:gd name="connsiteX50" fmla="*/ 3098693 w 6184806"/>
              <a:gd name="connsiteY50" fmla="*/ 1034974 h 5154967"/>
              <a:gd name="connsiteX51" fmla="*/ 3098693 w 6184806"/>
              <a:gd name="connsiteY51" fmla="*/ 871863 h 5154967"/>
              <a:gd name="connsiteX52" fmla="*/ 2945803 w 6184806"/>
              <a:gd name="connsiteY52" fmla="*/ 608576 h 5154967"/>
              <a:gd name="connsiteX53" fmla="*/ 2923422 w 6184806"/>
              <a:gd name="connsiteY53" fmla="*/ 570035 h 5154967"/>
              <a:gd name="connsiteX54" fmla="*/ 3027104 w 6184806"/>
              <a:gd name="connsiteY54" fmla="*/ 570035 h 5154967"/>
              <a:gd name="connsiteX55" fmla="*/ 4690846 w 6184806"/>
              <a:gd name="connsiteY55" fmla="*/ 570035 h 5154967"/>
              <a:gd name="connsiteX56" fmla="*/ 5028384 w 6184806"/>
              <a:gd name="connsiteY56" fmla="*/ 768968 h 5154967"/>
              <a:gd name="connsiteX57" fmla="*/ 6131323 w 6184806"/>
              <a:gd name="connsiteY57" fmla="*/ 2668304 h 5154967"/>
              <a:gd name="connsiteX58" fmla="*/ 6131323 w 6184806"/>
              <a:gd name="connsiteY58" fmla="*/ 3056698 h 5154967"/>
              <a:gd name="connsiteX59" fmla="*/ 5028384 w 6184806"/>
              <a:gd name="connsiteY59" fmla="*/ 4956035 h 5154967"/>
              <a:gd name="connsiteX60" fmla="*/ 4690846 w 6184806"/>
              <a:gd name="connsiteY60" fmla="*/ 5154967 h 5154967"/>
              <a:gd name="connsiteX61" fmla="*/ 2489721 w 6184806"/>
              <a:gd name="connsiteY61" fmla="*/ 5154967 h 5154967"/>
              <a:gd name="connsiteX62" fmla="*/ 2147429 w 6184806"/>
              <a:gd name="connsiteY62" fmla="*/ 4956035 h 5154967"/>
              <a:gd name="connsiteX63" fmla="*/ 1049243 w 6184806"/>
              <a:gd name="connsiteY63" fmla="*/ 3056698 h 5154967"/>
              <a:gd name="connsiteX64" fmla="*/ 1049243 w 6184806"/>
              <a:gd name="connsiteY64" fmla="*/ 2668304 h 5154967"/>
              <a:gd name="connsiteX65" fmla="*/ 1457007 w 6184806"/>
              <a:gd name="connsiteY65" fmla="*/ 1963067 h 5154967"/>
              <a:gd name="connsiteX66" fmla="*/ 1491373 w 6184806"/>
              <a:gd name="connsiteY66" fmla="*/ 1903634 h 5154967"/>
              <a:gd name="connsiteX67" fmla="*/ 1490164 w 6184806"/>
              <a:gd name="connsiteY67" fmla="*/ 1903127 h 5154967"/>
              <a:gd name="connsiteX68" fmla="*/ 1429519 w 6184806"/>
              <a:gd name="connsiteY68" fmla="*/ 1841960 h 5154967"/>
              <a:gd name="connsiteX69" fmla="*/ 968320 w 6184806"/>
              <a:gd name="connsiteY69" fmla="*/ 1044307 h 5154967"/>
              <a:gd name="connsiteX70" fmla="*/ 968320 w 6184806"/>
              <a:gd name="connsiteY70" fmla="*/ 881196 h 5154967"/>
              <a:gd name="connsiteX71" fmla="*/ 1429519 w 6184806"/>
              <a:gd name="connsiteY71" fmla="*/ 83546 h 5154967"/>
              <a:gd name="connsiteX72" fmla="*/ 1573268 w 6184806"/>
              <a:gd name="connsiteY72" fmla="*/ 0 h 5154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6184806" h="5154967">
                <a:moveTo>
                  <a:pt x="363179" y="3125191"/>
                </a:moveTo>
                <a:cubicBezTo>
                  <a:pt x="363179" y="3125191"/>
                  <a:pt x="363179" y="3125191"/>
                  <a:pt x="898270" y="3125191"/>
                </a:cubicBezTo>
                <a:cubicBezTo>
                  <a:pt x="931786" y="3125191"/>
                  <a:pt x="964145" y="3143614"/>
                  <a:pt x="980326" y="3173551"/>
                </a:cubicBezTo>
                <a:cubicBezTo>
                  <a:pt x="980326" y="3173551"/>
                  <a:pt x="980326" y="3173551"/>
                  <a:pt x="1248448" y="3635277"/>
                </a:cubicBezTo>
                <a:cubicBezTo>
                  <a:pt x="1265784" y="3664063"/>
                  <a:pt x="1265784" y="3700909"/>
                  <a:pt x="1248448" y="3729695"/>
                </a:cubicBezTo>
                <a:cubicBezTo>
                  <a:pt x="1248448" y="3729695"/>
                  <a:pt x="1248448" y="3729695"/>
                  <a:pt x="980326" y="4191421"/>
                </a:cubicBezTo>
                <a:cubicBezTo>
                  <a:pt x="964145" y="4221358"/>
                  <a:pt x="931786" y="4239781"/>
                  <a:pt x="898270" y="4239781"/>
                </a:cubicBezTo>
                <a:cubicBezTo>
                  <a:pt x="898270" y="4239781"/>
                  <a:pt x="898270" y="4239781"/>
                  <a:pt x="363179" y="4239781"/>
                </a:cubicBezTo>
                <a:cubicBezTo>
                  <a:pt x="328508" y="4239781"/>
                  <a:pt x="297305" y="4221358"/>
                  <a:pt x="279969" y="4191421"/>
                </a:cubicBezTo>
                <a:cubicBezTo>
                  <a:pt x="279969" y="4191421"/>
                  <a:pt x="279969" y="4191421"/>
                  <a:pt x="13002" y="3729695"/>
                </a:cubicBezTo>
                <a:cubicBezTo>
                  <a:pt x="-4334" y="3700909"/>
                  <a:pt x="-4334" y="3664063"/>
                  <a:pt x="13002" y="3635277"/>
                </a:cubicBezTo>
                <a:cubicBezTo>
                  <a:pt x="13002" y="3635277"/>
                  <a:pt x="13002" y="3635277"/>
                  <a:pt x="279969" y="3173551"/>
                </a:cubicBezTo>
                <a:cubicBezTo>
                  <a:pt x="297305" y="3143614"/>
                  <a:pt x="328508" y="3125191"/>
                  <a:pt x="363179" y="3125191"/>
                </a:cubicBezTo>
                <a:close/>
                <a:moveTo>
                  <a:pt x="2489721" y="570035"/>
                </a:moveTo>
                <a:cubicBezTo>
                  <a:pt x="2489721" y="570035"/>
                  <a:pt x="2489721" y="570035"/>
                  <a:pt x="2764862" y="570035"/>
                </a:cubicBezTo>
                <a:lnTo>
                  <a:pt x="2796959" y="570035"/>
                </a:lnTo>
                <a:lnTo>
                  <a:pt x="2827587" y="622777"/>
                </a:lnTo>
                <a:cubicBezTo>
                  <a:pt x="2870233" y="696217"/>
                  <a:pt x="2919858" y="781675"/>
                  <a:pt x="2977604" y="881117"/>
                </a:cubicBezTo>
                <a:cubicBezTo>
                  <a:pt x="3004153" y="925204"/>
                  <a:pt x="3004153" y="981634"/>
                  <a:pt x="2977604" y="1025720"/>
                </a:cubicBezTo>
                <a:cubicBezTo>
                  <a:pt x="2977604" y="1025720"/>
                  <a:pt x="2977604" y="1025720"/>
                  <a:pt x="2566968" y="1732863"/>
                </a:cubicBezTo>
                <a:cubicBezTo>
                  <a:pt x="2542188" y="1778712"/>
                  <a:pt x="2492629" y="1806927"/>
                  <a:pt x="2441299" y="1806927"/>
                </a:cubicBezTo>
                <a:cubicBezTo>
                  <a:pt x="2441299" y="1806927"/>
                  <a:pt x="2441299" y="1806927"/>
                  <a:pt x="1621798" y="1806927"/>
                </a:cubicBezTo>
                <a:cubicBezTo>
                  <a:pt x="1608523" y="1806927"/>
                  <a:pt x="1595580" y="1805163"/>
                  <a:pt x="1583218" y="1801802"/>
                </a:cubicBezTo>
                <a:lnTo>
                  <a:pt x="1556683" y="1790677"/>
                </a:lnTo>
                <a:lnTo>
                  <a:pt x="1572899" y="1762630"/>
                </a:lnTo>
                <a:cubicBezTo>
                  <a:pt x="1719523" y="1509042"/>
                  <a:pt x="1907201" y="1184448"/>
                  <a:pt x="2147429" y="768968"/>
                </a:cubicBezTo>
                <a:cubicBezTo>
                  <a:pt x="2218739" y="645819"/>
                  <a:pt x="2347099" y="570035"/>
                  <a:pt x="2489721" y="570035"/>
                </a:cubicBezTo>
                <a:close/>
                <a:moveTo>
                  <a:pt x="1573268" y="0"/>
                </a:moveTo>
                <a:cubicBezTo>
                  <a:pt x="1573268" y="0"/>
                  <a:pt x="1573268" y="0"/>
                  <a:pt x="2497662" y="0"/>
                </a:cubicBezTo>
                <a:cubicBezTo>
                  <a:pt x="2555561" y="0"/>
                  <a:pt x="2611463" y="31828"/>
                  <a:pt x="2639415" y="83546"/>
                </a:cubicBezTo>
                <a:cubicBezTo>
                  <a:pt x="2639415" y="83546"/>
                  <a:pt x="2639415" y="83546"/>
                  <a:pt x="2887862" y="511387"/>
                </a:cubicBezTo>
                <a:lnTo>
                  <a:pt x="2915928" y="559720"/>
                </a:lnTo>
                <a:lnTo>
                  <a:pt x="2893844" y="559720"/>
                </a:lnTo>
                <a:lnTo>
                  <a:pt x="2789466" y="559720"/>
                </a:lnTo>
                <a:lnTo>
                  <a:pt x="2744122" y="481634"/>
                </a:lnTo>
                <a:cubicBezTo>
                  <a:pt x="2570885" y="183309"/>
                  <a:pt x="2570885" y="183309"/>
                  <a:pt x="2570885" y="183309"/>
                </a:cubicBezTo>
                <a:cubicBezTo>
                  <a:pt x="2546104" y="137459"/>
                  <a:pt x="2496545" y="109243"/>
                  <a:pt x="2445216" y="109243"/>
                </a:cubicBezTo>
                <a:cubicBezTo>
                  <a:pt x="1625714" y="109243"/>
                  <a:pt x="1625714" y="109243"/>
                  <a:pt x="1625714" y="109243"/>
                </a:cubicBezTo>
                <a:cubicBezTo>
                  <a:pt x="1572615" y="109243"/>
                  <a:pt x="1524825" y="137459"/>
                  <a:pt x="1498276" y="183309"/>
                </a:cubicBezTo>
                <a:cubicBezTo>
                  <a:pt x="1089410" y="890450"/>
                  <a:pt x="1089410" y="890450"/>
                  <a:pt x="1089410" y="890450"/>
                </a:cubicBezTo>
                <a:cubicBezTo>
                  <a:pt x="1062860" y="934537"/>
                  <a:pt x="1062860" y="990967"/>
                  <a:pt x="1089410" y="1035054"/>
                </a:cubicBezTo>
                <a:cubicBezTo>
                  <a:pt x="1498276" y="1742196"/>
                  <a:pt x="1498276" y="1742196"/>
                  <a:pt x="1498276" y="1742196"/>
                </a:cubicBezTo>
                <a:cubicBezTo>
                  <a:pt x="1511551" y="1765121"/>
                  <a:pt x="1530135" y="1783637"/>
                  <a:pt x="1552039" y="1796422"/>
                </a:cubicBezTo>
                <a:lnTo>
                  <a:pt x="1558260" y="1799029"/>
                </a:lnTo>
                <a:lnTo>
                  <a:pt x="1524911" y="1856707"/>
                </a:lnTo>
                <a:lnTo>
                  <a:pt x="1500108" y="1899604"/>
                </a:lnTo>
                <a:lnTo>
                  <a:pt x="1525834" y="1910390"/>
                </a:lnTo>
                <a:cubicBezTo>
                  <a:pt x="1539779" y="1914181"/>
                  <a:pt x="1554378" y="1916170"/>
                  <a:pt x="1569352" y="1916170"/>
                </a:cubicBezTo>
                <a:cubicBezTo>
                  <a:pt x="2493745" y="1916170"/>
                  <a:pt x="2493745" y="1916170"/>
                  <a:pt x="2493745" y="1916170"/>
                </a:cubicBezTo>
                <a:cubicBezTo>
                  <a:pt x="2551645" y="1916170"/>
                  <a:pt x="2607546" y="1884345"/>
                  <a:pt x="2635498" y="1832627"/>
                </a:cubicBezTo>
                <a:cubicBezTo>
                  <a:pt x="3098693" y="1034974"/>
                  <a:pt x="3098693" y="1034974"/>
                  <a:pt x="3098693" y="1034974"/>
                </a:cubicBezTo>
                <a:cubicBezTo>
                  <a:pt x="3128641" y="985246"/>
                  <a:pt x="3128641" y="921593"/>
                  <a:pt x="3098693" y="871863"/>
                </a:cubicBezTo>
                <a:cubicBezTo>
                  <a:pt x="3040794" y="772157"/>
                  <a:pt x="2990132" y="684914"/>
                  <a:pt x="2945803" y="608576"/>
                </a:cubicBezTo>
                <a:lnTo>
                  <a:pt x="2923422" y="570035"/>
                </a:lnTo>
                <a:lnTo>
                  <a:pt x="3027104" y="570035"/>
                </a:lnTo>
                <a:cubicBezTo>
                  <a:pt x="3349535" y="570035"/>
                  <a:pt x="3865424" y="570035"/>
                  <a:pt x="4690846" y="570035"/>
                </a:cubicBezTo>
                <a:cubicBezTo>
                  <a:pt x="4828714" y="570035"/>
                  <a:pt x="4961827" y="645819"/>
                  <a:pt x="5028384" y="768968"/>
                </a:cubicBezTo>
                <a:cubicBezTo>
                  <a:pt x="5028384" y="768968"/>
                  <a:pt x="5028384" y="768968"/>
                  <a:pt x="6131323" y="2668304"/>
                </a:cubicBezTo>
                <a:cubicBezTo>
                  <a:pt x="6202634" y="2786717"/>
                  <a:pt x="6202634" y="2938285"/>
                  <a:pt x="6131323" y="3056698"/>
                </a:cubicBezTo>
                <a:cubicBezTo>
                  <a:pt x="6131323" y="3056698"/>
                  <a:pt x="6131323" y="3056698"/>
                  <a:pt x="5028384" y="4956035"/>
                </a:cubicBezTo>
                <a:cubicBezTo>
                  <a:pt x="4961827" y="5079184"/>
                  <a:pt x="4828714" y="5154967"/>
                  <a:pt x="4690846" y="5154967"/>
                </a:cubicBezTo>
                <a:cubicBezTo>
                  <a:pt x="4690846" y="5154967"/>
                  <a:pt x="4690846" y="5154967"/>
                  <a:pt x="2489721" y="5154967"/>
                </a:cubicBezTo>
                <a:cubicBezTo>
                  <a:pt x="2347099" y="5154967"/>
                  <a:pt x="2218739" y="5079184"/>
                  <a:pt x="2147429" y="4956035"/>
                </a:cubicBezTo>
                <a:cubicBezTo>
                  <a:pt x="2147429" y="4956035"/>
                  <a:pt x="2147429" y="4956035"/>
                  <a:pt x="1049243" y="3056698"/>
                </a:cubicBezTo>
                <a:cubicBezTo>
                  <a:pt x="977932" y="2938285"/>
                  <a:pt x="977932" y="2786717"/>
                  <a:pt x="1049243" y="2668304"/>
                </a:cubicBezTo>
                <a:cubicBezTo>
                  <a:pt x="1049243" y="2668304"/>
                  <a:pt x="1049243" y="2668304"/>
                  <a:pt x="1457007" y="1963067"/>
                </a:cubicBezTo>
                <a:lnTo>
                  <a:pt x="1491373" y="1903634"/>
                </a:lnTo>
                <a:lnTo>
                  <a:pt x="1490164" y="1903127"/>
                </a:lnTo>
                <a:cubicBezTo>
                  <a:pt x="1465456" y="1888705"/>
                  <a:pt x="1444493" y="1867820"/>
                  <a:pt x="1429519" y="1841960"/>
                </a:cubicBezTo>
                <a:cubicBezTo>
                  <a:pt x="1429519" y="1841960"/>
                  <a:pt x="1429519" y="1841960"/>
                  <a:pt x="968320" y="1044307"/>
                </a:cubicBezTo>
                <a:cubicBezTo>
                  <a:pt x="938371" y="994579"/>
                  <a:pt x="938371" y="930926"/>
                  <a:pt x="968320" y="881196"/>
                </a:cubicBezTo>
                <a:cubicBezTo>
                  <a:pt x="968320" y="881196"/>
                  <a:pt x="968320" y="881196"/>
                  <a:pt x="1429519" y="83546"/>
                </a:cubicBezTo>
                <a:cubicBezTo>
                  <a:pt x="1459466" y="31828"/>
                  <a:pt x="1513373" y="0"/>
                  <a:pt x="1573268" y="0"/>
                </a:cubicBezTo>
                <a:close/>
              </a:path>
            </a:pathLst>
          </a:custGeom>
          <a:solidFill>
            <a:schemeClr val="tx1">
              <a:lumMod val="50000"/>
              <a:lumOff val="50000"/>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Picture 4">
            <a:extLst>
              <a:ext uri="{FF2B5EF4-FFF2-40B4-BE49-F238E27FC236}">
                <a16:creationId xmlns:a16="http://schemas.microsoft.com/office/drawing/2014/main" id="{9120848B-B2B4-45BE-A961-AEC0B06CF41B}"/>
              </a:ext>
            </a:extLst>
          </p:cNvPr>
          <p:cNvPicPr>
            <a:picLocks noChangeAspect="1"/>
          </p:cNvPicPr>
          <p:nvPr/>
        </p:nvPicPr>
        <p:blipFill rotWithShape="1">
          <a:blip r:embed="rId2"/>
          <a:srcRect r="59916"/>
          <a:stretch/>
        </p:blipFill>
        <p:spPr>
          <a:xfrm>
            <a:off x="6854891" y="1715881"/>
            <a:ext cx="3203509" cy="3426237"/>
          </a:xfrm>
          <a:prstGeom prst="rect">
            <a:avLst/>
          </a:prstGeom>
        </p:spPr>
      </p:pic>
      <p:sp>
        <p:nvSpPr>
          <p:cNvPr id="4" name="Subtitle 3"/>
          <p:cNvSpPr>
            <a:spLocks noGrp="1"/>
          </p:cNvSpPr>
          <p:nvPr>
            <p:ph type="subTitle" idx="1"/>
          </p:nvPr>
        </p:nvSpPr>
        <p:spPr>
          <a:xfrm>
            <a:off x="1245686" y="648614"/>
            <a:ext cx="8534400" cy="1752600"/>
          </a:xfrm>
        </p:spPr>
        <p:txBody>
          <a:bodyPr/>
          <a:lstStyle/>
          <a:p>
            <a:endParaRPr lang="en-US" b="1" dirty="0">
              <a:solidFill>
                <a:schemeClr val="tx1"/>
              </a:solidFill>
              <a:latin typeface="Times New Roman" panose="02020603050405020304" pitchFamily="18" charset="0"/>
              <a:cs typeface="Times New Roman" panose="02020603050405020304" pitchFamily="18" charset="0"/>
            </a:endParaRPr>
          </a:p>
          <a:p>
            <a:r>
              <a:rPr lang="en-US" b="1" dirty="0">
                <a:solidFill>
                  <a:schemeClr val="tx1"/>
                </a:solidFill>
                <a:latin typeface="Times New Roman" panose="02020603050405020304" pitchFamily="18" charset="0"/>
                <a:cs typeface="Times New Roman" panose="02020603050405020304" pitchFamily="18" charset="0"/>
              </a:rPr>
              <a:t>TITLE PAGE</a:t>
            </a:r>
            <a:endParaRPr lang="en-IN" b="1" dirty="0">
              <a:solidFill>
                <a:schemeClr val="tx1"/>
              </a:solidFill>
              <a:latin typeface="Times New Roman" panose="02020603050405020304" pitchFamily="18" charset="0"/>
              <a:cs typeface="Times New Roman" panose="02020603050405020304" pitchFamily="18" charset="0"/>
            </a:endParaRPr>
          </a:p>
        </p:txBody>
      </p:sp>
      <p:sp>
        <p:nvSpPr>
          <p:cNvPr id="8" name="Title 7"/>
          <p:cNvSpPr>
            <a:spLocks noGrp="1"/>
          </p:cNvSpPr>
          <p:nvPr>
            <p:ph type="ctrTitle"/>
          </p:nvPr>
        </p:nvSpPr>
        <p:spPr>
          <a:xfrm>
            <a:off x="331286" y="-526757"/>
            <a:ext cx="10363200" cy="2076450"/>
          </a:xfrm>
        </p:spPr>
        <p:txBody>
          <a:bodyPr/>
          <a:lstStyle/>
          <a:p>
            <a:r>
              <a:rPr lang="en-US" sz="4000" b="1" dirty="0">
                <a:solidFill>
                  <a:schemeClr val="tx2"/>
                </a:solidFill>
                <a:latin typeface="Garamond" panose="02020404030301010803" pitchFamily="18" charset="0"/>
              </a:rPr>
              <a:t>SMART INDIA HACKATHON </a:t>
            </a:r>
            <a:r>
              <a:rPr lang="en-US" sz="4000" b="1" dirty="0" smtClean="0">
                <a:solidFill>
                  <a:schemeClr val="tx2"/>
                </a:solidFill>
                <a:latin typeface="Garamond" panose="02020404030301010803" pitchFamily="18" charset="0"/>
              </a:rPr>
              <a:t>2026</a:t>
            </a:r>
            <a:endParaRPr lang="en-IN" sz="4000" b="1" dirty="0">
              <a:solidFill>
                <a:schemeClr val="tx2"/>
              </a:solidFill>
              <a:latin typeface="Garamond" panose="02020404030301010803" pitchFamily="18" charset="0"/>
            </a:endParaRPr>
          </a:p>
        </p:txBody>
      </p:sp>
      <p:sp>
        <p:nvSpPr>
          <p:cNvPr id="10" name="TextBox 9"/>
          <p:cNvSpPr txBox="1"/>
          <p:nvPr/>
        </p:nvSpPr>
        <p:spPr>
          <a:xfrm>
            <a:off x="331286" y="2076450"/>
            <a:ext cx="5924550" cy="4703019"/>
          </a:xfrm>
          <a:prstGeom prst="rect">
            <a:avLst/>
          </a:prstGeom>
          <a:noFill/>
        </p:spPr>
        <p:txBody>
          <a:bodyPr wrap="square" rtlCol="0">
            <a:spAutoFit/>
          </a:bodyPr>
          <a:lstStyle/>
          <a:p>
            <a:r>
              <a:rPr sz="1300" b="1">
                <a:solidFill>
                  <a:srgbClr val="141B2E"/>
                </a:solidFill>
              </a:rPr>
              <a:t>Problem Statement ID – </a:t>
            </a:r>
            <a:r>
              <a:rPr sz="1300" b="0">
                <a:solidFill>
                  <a:srgbClr val="141B2E"/>
                </a:solidFill>
              </a:rPr>
              <a:t>SIH26171</a:t>
            </a:r>
            <a:endParaRPr lang="en-US" dirty="0"/>
          </a:p>
          <a:p>
            <a:r>
              <a:rPr sz="1300" b="1">
                <a:solidFill>
                  <a:srgbClr val="141B2E"/>
                </a:solidFill>
              </a:rPr>
              <a:t>Problem Statement Title – </a:t>
            </a:r>
            <a:r>
              <a:rPr sz="1300" b="0">
                <a:solidFill>
                  <a:srgbClr val="141B2E"/>
                </a:solidFill>
              </a:rPr>
              <a:t>On-device Visual Perception for Light-weight Browser Agents</a:t>
            </a:r>
          </a:p>
          <a:p>
            <a:r>
              <a:rPr sz="1300" b="1">
                <a:solidFill>
                  <a:srgbClr val="141B2E"/>
                </a:solidFill>
              </a:rPr>
              <a:t>Theme – </a:t>
            </a:r>
            <a:r>
              <a:rPr sz="1300" b="1">
                <a:solidFill>
                  <a:srgbClr val="B46A00"/>
                </a:solidFill>
              </a:rPr>
              <a:t>«Theme from portal»</a:t>
            </a:r>
          </a:p>
          <a:p>
            <a:r>
              <a:rPr sz="1300" b="1">
                <a:solidFill>
                  <a:srgbClr val="141B2E"/>
                </a:solidFill>
              </a:rPr>
              <a:t>PS Category – </a:t>
            </a:r>
            <a:r>
              <a:rPr sz="1300" b="0">
                <a:solidFill>
                  <a:srgbClr val="141B2E"/>
                </a:solidFill>
              </a:rPr>
              <a:t>Software</a:t>
            </a:r>
          </a:p>
          <a:p>
            <a:r>
              <a:rPr sz="1300" b="1">
                <a:solidFill>
                  <a:srgbClr val="141B2E"/>
                </a:solidFill>
              </a:rPr>
              <a:t>Team ID – </a:t>
            </a:r>
            <a:r>
              <a:rPr sz="1300" b="1">
                <a:solidFill>
                  <a:srgbClr val="B46A00"/>
                </a:solidFill>
              </a:rPr>
              <a:t>«Team ID»</a:t>
            </a:r>
          </a:p>
          <a:p>
            <a:r>
              <a:rPr sz="1300" b="1">
                <a:solidFill>
                  <a:srgbClr val="141B2E"/>
                </a:solidFill>
              </a:rPr>
              <a:t>Team Name – </a:t>
            </a:r>
            <a:r>
              <a:rPr sz="1300" b="0">
                <a:solidFill>
                  <a:srgbClr val="141B2E"/>
                </a:solidFill>
              </a:rPr>
              <a:t>Vagabonds</a:t>
            </a: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endParaRPr lang="en-US" dirty="0">
              <a:solidFill>
                <a:schemeClr val="accent2">
                  <a:lumMod val="75000"/>
                </a:schemeClr>
              </a:solidFill>
              <a:latin typeface="+mn-lt"/>
              <a:ea typeface="+mn-ea"/>
            </a:endParaRPr>
          </a:p>
        </p:txBody>
      </p:sp>
      <p:sp>
        <p:nvSpPr>
          <p:cNvPr id="15361" name="Title 1"/>
          <p:cNvSpPr>
            <a:spLocks noGrp="1"/>
          </p:cNvSpPr>
          <p:nvPr>
            <p:ph type="title"/>
          </p:nvPr>
        </p:nvSpPr>
        <p:spPr>
          <a:xfrm>
            <a:off x="182998" y="0"/>
            <a:ext cx="10972800" cy="1143000"/>
          </a:xfrm>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
            </a:r>
            <a:br>
              <a:rPr lang="en-US" sz="3600" b="1" dirty="0">
                <a:latin typeface="Times New Roman" panose="02020603050405020304" pitchFamily="18" charset="0"/>
                <a:ea typeface="ＭＳ Ｐゴシック" pitchFamily="1" charset="-128"/>
                <a:cs typeface="Times New Roman" panose="02020603050405020304" pitchFamily="18" charset="0"/>
              </a:rPr>
            </a:br>
            <a:r>
              <a:rPr lang="en-US" sz="3600" b="1" dirty="0">
                <a:latin typeface="Times New Roman" panose="02020603050405020304" pitchFamily="18" charset="0"/>
                <a:ea typeface="ＭＳ Ｐゴシック" pitchFamily="1" charset="-128"/>
                <a:cs typeface="Times New Roman" panose="02020603050405020304" pitchFamily="18" charset="0"/>
              </a:rPr>
              <a:t>IDEA TITLE</a:t>
            </a:r>
          </a:p>
        </p:txBody>
      </p:sp>
      <p:sp>
        <p:nvSpPr>
          <p:cNvPr id="6" name="Slide Number Placeholder 5"/>
          <p:cNvSpPr>
            <a:spLocks noGrp="1"/>
          </p:cNvSpPr>
          <p:nvPr>
            <p:ph type="sldNum" sz="quarter" idx="12"/>
          </p:nvPr>
        </p:nvSpPr>
        <p:spPr/>
        <p:txBody>
          <a:bodyPr/>
          <a:lstStyle/>
          <a:p>
            <a:fld id="{677C3CE7-23F7-4828-823C-E0205DF2CF97}" type="slidenum">
              <a:rPr lang="en-US" b="1" smtClean="0">
                <a:solidFill>
                  <a:schemeClr val="bg1"/>
                </a:solidFill>
              </a:rPr>
              <a:pPr/>
              <a:t>2</a:t>
            </a:fld>
            <a:endParaRPr lang="en-US" b="1" dirty="0">
              <a:solidFill>
                <a:schemeClr val="bg1"/>
              </a:solidFill>
            </a:endParaRPr>
          </a:p>
        </p:txBody>
      </p:sp>
      <p:sp>
        <p:nvSpPr>
          <p:cNvPr id="7" name="Footer Placeholder 6"/>
          <p:cNvSpPr>
            <a:spLocks noGrp="1"/>
          </p:cNvSpPr>
          <p:nvPr>
            <p:ph type="ftr" sz="quarter" idx="11"/>
          </p:nvPr>
        </p:nvSpPr>
        <p:spPr>
          <a:xfrm>
            <a:off x="4648200" y="6356353"/>
            <a:ext cx="3204000" cy="365125"/>
          </a:xfrm>
        </p:spPr>
        <p:txBody>
          <a:bodyPr/>
          <a:lstStyle/>
          <a:p>
            <a:pPr>
              <a:defRPr/>
            </a:pPr>
            <a:r>
              <a:rPr lang="en-US">
                <a:solidFill>
                  <a:schemeClr val="bg1"/>
                </a:solidFill>
              </a:rPr>
              <a:t>@SIH Idea submission- Template</a:t>
            </a:r>
            <a:endParaRPr lang="en-US" dirty="0">
              <a:solidFill>
                <a:schemeClr val="bg1"/>
              </a:solidFill>
            </a:endParaRPr>
          </a:p>
        </p:txBody>
      </p:sp>
      <p:sp>
        <p:nvSpPr>
          <p:cNvPr id="10" name="Oval 9"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r>
              <a:rPr sz="1100" b="1">
                <a:solidFill>
                  <a:srgbClr val="B46A00"/>
                </a:solidFill>
              </a:rPr>
              <a:t>Vagabonds</a:t>
            </a:r>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5362" name="TextBox 15361"/>
          <p:cNvSpPr txBox="1"/>
          <p:nvPr/>
        </p:nvSpPr>
        <p:spPr>
          <a:xfrm>
            <a:off x="502920" y="1188720"/>
            <a:ext cx="5532120" cy="4937760"/>
          </a:xfrm>
          <a:prstGeom prst="rect">
            <a:avLst/>
          </a:prstGeom>
          <a:noFill/>
        </p:spPr>
        <p:txBody>
          <a:bodyPr wrap="square">
            <a:spAutoFit/>
          </a:bodyPr>
          <a:lstStyle/>
          <a:p>
            <a:pPr>
              <a:spcAft>
                <a:spcPts val="1000"/>
              </a:spcAft>
            </a:pPr>
            <a:r>
              <a:rPr sz="1700" b="1">
                <a:solidFill>
                  <a:srgbClr val="2B3A8F"/>
                </a:solidFill>
              </a:rPr>
              <a:t>An AI agent that reads your screen — without your personal data ever leaving the machine.</a:t>
            </a:r>
          </a:p>
          <a:p>
            <a:pPr>
              <a:spcAft>
                <a:spcPts val="1200"/>
              </a:spcAft>
            </a:pPr>
            <a:r>
              <a:rPr sz="1300" b="0">
                <a:solidFill>
                  <a:srgbClr val="535C6B"/>
                </a:solidFill>
              </a:rPr>
              <a:t>An agent is only useful if it can see the screen. Your screen holds your PAN, Aadhaar, card and an open password field. Today you accept an assistant that sees everything, or you get none.</a:t>
            </a:r>
          </a:p>
          <a:p>
            <a:pPr>
              <a:spcAft>
                <a:spcPts val="600"/>
              </a:spcAft>
            </a:pPr>
            <a:r>
              <a:rPr sz="1500" b="1">
                <a:solidFill>
                  <a:srgbClr val="141B2E"/>
                </a:solidFill>
              </a:rPr>
              <a:t>How it works</a:t>
            </a:r>
          </a:p>
          <a:p>
            <a:pPr>
              <a:spcAft>
                <a:spcPts val="400"/>
              </a:spcAft>
            </a:pPr>
            <a:r>
              <a:rPr sz="1300" b="0">
                <a:solidFill>
                  <a:srgbClr val="141B2E"/>
                </a:solidFill>
              </a:rPr>
              <a:t>•  A small vision model runs IN the browser and reads the page</a:t>
            </a:r>
          </a:p>
          <a:p>
            <a:pPr>
              <a:spcAft>
                <a:spcPts val="400"/>
              </a:spcAft>
            </a:pPr>
            <a:r>
              <a:rPr sz="1300" b="0">
                <a:solidFill>
                  <a:srgbClr val="141B2E"/>
                </a:solidFill>
              </a:rPr>
              <a:t>•  Every PAN, Aadhaar, card, password and face is replaced with a typed tag — &lt;PII_PAN_1&gt; — before any network request</a:t>
            </a:r>
          </a:p>
          <a:p>
            <a:pPr>
              <a:spcAft>
                <a:spcPts val="400"/>
              </a:spcAft>
            </a:pPr>
            <a:r>
              <a:rPr sz="1300" b="0">
                <a:solidFill>
                  <a:srgbClr val="141B2E"/>
                </a:solidFill>
              </a:rPr>
              <a:t>•  The server model reasons over the censored page and returns one action: “click Submit”</a:t>
            </a:r>
          </a:p>
          <a:p>
            <a:pPr>
              <a:spcAft>
                <a:spcPts val="1000"/>
              </a:spcAft>
            </a:pPr>
            <a:r>
              <a:rPr sz="1300" b="0">
                <a:solidFill>
                  <a:srgbClr val="141B2E"/>
                </a:solidFill>
              </a:rPr>
              <a:t>•  The client validates that action, then executes it</a:t>
            </a:r>
          </a:p>
          <a:p>
            <a:pPr>
              <a:spcAft>
                <a:spcPts val="200"/>
              </a:spcAft>
            </a:pPr>
            <a:r>
              <a:rPr sz="1300" b="1">
                <a:solidFill>
                  <a:srgbClr val="2B3A8F"/>
                </a:solidFill>
              </a:rPr>
              <a:t>A tag means “this field is filled and valid” — so the server reasons correctly about a value it can never see.</a:t>
            </a:r>
          </a:p>
        </p:txBody>
      </p:sp>
      <p:sp>
        <p:nvSpPr>
          <p:cNvPr id="15363" name="Rounded Rectangle 15362"/>
          <p:cNvSpPr/>
          <p:nvPr/>
        </p:nvSpPr>
        <p:spPr>
          <a:xfrm>
            <a:off x="6355080" y="1188720"/>
            <a:ext cx="5349240" cy="4937760"/>
          </a:xfrm>
          <a:prstGeom prst="roundRect">
            <a:avLst/>
          </a:prstGeom>
          <a:solidFill>
            <a:srgbClr val="FDF0DC"/>
          </a:solidFill>
          <a:ln w="12700">
            <a:solidFill>
              <a:srgbClr val="B46A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364" name="TextBox 15363"/>
          <p:cNvSpPr txBox="1"/>
          <p:nvPr/>
        </p:nvSpPr>
        <p:spPr>
          <a:xfrm>
            <a:off x="6629400" y="1371600"/>
            <a:ext cx="4846320" cy="4572000"/>
          </a:xfrm>
          <a:prstGeom prst="rect">
            <a:avLst/>
          </a:prstGeom>
          <a:noFill/>
        </p:spPr>
        <p:txBody>
          <a:bodyPr wrap="square">
            <a:spAutoFit/>
          </a:bodyPr>
          <a:lstStyle/>
          <a:p>
            <a:pPr>
              <a:spcAft>
                <a:spcPts val="800"/>
              </a:spcAft>
            </a:pPr>
            <a:r>
              <a:rPr sz="1500" b="1">
                <a:solidFill>
                  <a:srgbClr val="B46A00"/>
                </a:solidFill>
              </a:rPr>
              <a:t>What makes it different</a:t>
            </a:r>
          </a:p>
          <a:p>
            <a:pPr>
              <a:spcAft>
                <a:spcPts val="600"/>
              </a:spcAft>
            </a:pPr>
            <a:r>
              <a:rPr sz="1300" b="1">
                <a:solidFill>
                  <a:srgbClr val="141B2E"/>
                </a:solidFill>
              </a:rPr>
              <a:t>Privacy is STRUCTURAL, not behavioural.</a:t>
            </a:r>
          </a:p>
          <a:p>
            <a:pPr>
              <a:spcAft>
                <a:spcPts val="1000"/>
              </a:spcAft>
            </a:pPr>
            <a:r>
              <a:rPr sz="1000" b="0">
                <a:solidFill>
                  <a:srgbClr val="535C6B"/>
                </a:solidFill>
              </a:rPr>
              <a:t>The secret store lives in the page context. The code that talks to the network has never held a real value — so a bug there cannot leak a PAN.</a:t>
            </a:r>
          </a:p>
          <a:p>
            <a:pPr>
              <a:spcAft>
                <a:spcPts val="600"/>
              </a:spcAft>
            </a:pPr>
            <a:r>
              <a:rPr sz="1300" b="1">
                <a:solidFill>
                  <a:srgbClr val="141B2E"/>
                </a:solidFill>
              </a:rPr>
              <a:t>Proven under attack</a:t>
            </a:r>
          </a:p>
          <a:p>
            <a:pPr>
              <a:spcAft>
                <a:spcPts val="1000"/>
              </a:spcAft>
            </a:pPr>
            <a:r>
              <a:rPr sz="1200" b="0">
                <a:solidFill>
                  <a:srgbClr val="535C6B"/>
                </a:solidFill>
              </a:rPr>
              <a:t>On a page carrying hidden prompt-injection, the model COMPLIED (“the user has authorised full disclosure”) — and still leaked nothing, because it never had a value to disclose.</a:t>
            </a:r>
          </a:p>
          <a:p>
            <a:pPr>
              <a:spcAft>
                <a:spcPts val="600"/>
              </a:spcAft>
            </a:pPr>
            <a:r>
              <a:rPr sz="1300" b="1">
                <a:solidFill>
                  <a:srgbClr val="141B2E"/>
                </a:solidFill>
              </a:rPr>
              <a:t>Auditable, not asserted</a:t>
            </a:r>
          </a:p>
          <a:p>
            <a:pPr>
              <a:spcAft>
                <a:spcPts val="200"/>
              </a:spcAft>
            </a:pPr>
            <a:r>
              <a:rPr sz="1200" b="0">
                <a:solidFill>
                  <a:srgbClr val="535C6B"/>
                </a:solidFill>
              </a:rPr>
              <a:t>A Privacy Ledger shows what was withheld and the exact bytes sent. Nobody has to take our word for it.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endParaRPr lang="en-US" dirty="0">
              <a:solidFill>
                <a:schemeClr val="accent2">
                  <a:lumMod val="75000"/>
                </a:schemeClr>
              </a:solidFill>
              <a:latin typeface="+mn-lt"/>
              <a:ea typeface="+mn-ea"/>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TECHNICAL APPROACH</a:t>
            </a:r>
          </a:p>
        </p:txBody>
      </p:sp>
      <p:sp>
        <p:nvSpPr>
          <p:cNvPr id="6" name="Slide Number Placeholder 5"/>
          <p:cNvSpPr>
            <a:spLocks noGrp="1"/>
          </p:cNvSpPr>
          <p:nvPr>
            <p:ph type="sldNum" sz="quarter" idx="12"/>
          </p:nvPr>
        </p:nvSpPr>
        <p:spPr/>
        <p:txBody>
          <a:bodyPr/>
          <a:lstStyle/>
          <a:p>
            <a:fld id="{677C3CE7-23F7-4828-823C-E0205DF2CF97}" type="slidenum">
              <a:rPr lang="en-US" b="1">
                <a:solidFill>
                  <a:schemeClr val="bg1"/>
                </a:solidFill>
              </a:rPr>
              <a:pPr/>
              <a:t>3</a:t>
            </a:fld>
            <a:endParaRPr lang="en-US" b="1" dirty="0">
              <a:solidFill>
                <a:schemeClr val="bg1"/>
              </a:solidFill>
            </a:endParaRPr>
          </a:p>
        </p:txBody>
      </p:sp>
      <p:sp>
        <p:nvSpPr>
          <p:cNvPr id="7" name="Footer Placeholder 6"/>
          <p:cNvSpPr>
            <a:spLocks noGrp="1"/>
          </p:cNvSpPr>
          <p:nvPr>
            <p:ph type="ftr" sz="quarter" idx="11"/>
          </p:nvPr>
        </p:nvSpPr>
        <p:spPr>
          <a:xfrm>
            <a:off x="4648200" y="6356353"/>
            <a:ext cx="3204000" cy="365125"/>
          </a:xfrm>
        </p:spPr>
        <p:txBody>
          <a:bodyPr/>
          <a:lstStyle/>
          <a:p>
            <a:pPr>
              <a:defRPr/>
            </a:pPr>
            <a:r>
              <a:rPr lang="en-US">
                <a:solidFill>
                  <a:schemeClr val="bg1"/>
                </a:solidFill>
              </a:rPr>
              <a:t>@SIH Idea submission- Template</a:t>
            </a:r>
            <a:endParaRPr lang="en-US" dirty="0">
              <a:solidFill>
                <a:schemeClr val="bg1"/>
              </a:solidFill>
            </a:endParaRPr>
          </a:p>
        </p:txBody>
      </p:sp>
      <p:sp>
        <p:nvSpPr>
          <p:cNvPr id="11" name="Oval 10"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r>
              <a:rPr sz="1100" b="1">
                <a:solidFill>
                  <a:srgbClr val="B46A00"/>
                </a:solidFill>
              </a:rPr>
              <a:t>Vagabonds</a:t>
            </a:r>
          </a:p>
        </p:txBody>
      </p:sp>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7410" name="TextBox 17409"/>
          <p:cNvSpPr txBox="1"/>
          <p:nvPr/>
        </p:nvSpPr>
        <p:spPr>
          <a:xfrm>
            <a:off x="502920" y="1188720"/>
            <a:ext cx="5440680" cy="4937760"/>
          </a:xfrm>
          <a:prstGeom prst="rect">
            <a:avLst/>
          </a:prstGeom>
          <a:noFill/>
        </p:spPr>
        <p:txBody>
          <a:bodyPr wrap="square">
            <a:spAutoFit/>
          </a:bodyPr>
          <a:lstStyle/>
          <a:p>
            <a:pPr>
              <a:spcAft>
                <a:spcPts val="800"/>
              </a:spcAft>
            </a:pPr>
            <a:r>
              <a:rPr sz="1500" b="1">
                <a:solidFill>
                  <a:srgbClr val="2B3A8F"/>
                </a:solidFill>
              </a:rPr>
              <a:t>The screen is not just pixels — it is a DOM</a:t>
            </a:r>
          </a:p>
          <a:p>
            <a:pPr>
              <a:spcAft>
                <a:spcPts val="1000"/>
              </a:spcAft>
            </a:pPr>
            <a:r>
              <a:rPr sz="1200" b="0">
                <a:solidFill>
                  <a:srgbClr val="535C6B"/>
                </a:solidFill>
              </a:rPr>
              <a:t>The page structure already gives exact labels, field types and coordinates for free. The vision model runs only on crops the DOM cannot describe — images, canvas, cross-origin frames.</a:t>
            </a:r>
          </a:p>
          <a:p>
            <a:pPr>
              <a:spcAft>
                <a:spcPts val="1200"/>
              </a:spcAft>
            </a:pPr>
            <a:r>
              <a:rPr sz="1000" b="1">
                <a:solidFill>
                  <a:srgbClr val="141B2E"/>
                </a:solidFill>
              </a:rPr>
              <a:t>Raises accuracy while cutting memory and latency at the same time.</a:t>
            </a:r>
          </a:p>
          <a:p>
            <a:pPr>
              <a:spcAft>
                <a:spcPts val="800"/>
              </a:spcAft>
            </a:pPr>
            <a:r>
              <a:rPr sz="1500" b="1">
                <a:solidFill>
                  <a:srgbClr val="2B3A8F"/>
                </a:solidFill>
              </a:rPr>
              <a:t>PII detection — three layers</a:t>
            </a:r>
          </a:p>
          <a:p>
            <a:pPr>
              <a:spcAft>
                <a:spcPts val="400"/>
              </a:spcAft>
            </a:pPr>
            <a:r>
              <a:rPr sz="1200" b="0">
                <a:solidFill>
                  <a:srgbClr val="141B2E"/>
                </a:solidFill>
              </a:rPr>
              <a:t>1.  Page semantics: password inputs, autocomplete, ARIA labels</a:t>
            </a:r>
          </a:p>
          <a:p>
            <a:pPr>
              <a:spcAft>
                <a:spcPts val="400"/>
              </a:spcAft>
            </a:pPr>
            <a:r>
              <a:rPr sz="1000" b="0">
                <a:solidFill>
                  <a:srgbClr val="141B2E"/>
                </a:solidFill>
              </a:rPr>
              <a:t>2.  Patterns WITH checksums: Aadhaar (Verhoeff), card (Luhn), GSTIN, PAN</a:t>
            </a:r>
          </a:p>
          <a:p>
            <a:pPr>
              <a:spcAft>
                <a:spcPts val="800"/>
              </a:spcAft>
            </a:pPr>
            <a:r>
              <a:rPr sz="1200" b="0">
                <a:solidFill>
                  <a:srgbClr val="141B2E"/>
                </a:solidFill>
              </a:rPr>
              <a:t>3.  Person names: gazetteer + structural rules</a:t>
            </a:r>
          </a:p>
          <a:p>
            <a:pPr>
              <a:spcAft>
                <a:spcPts val="200"/>
              </a:spcAft>
            </a:pPr>
            <a:r>
              <a:rPr sz="1000" b="1">
                <a:solidFill>
                  <a:srgbClr val="1B7A3D"/>
                </a:solidFill>
              </a:rPr>
              <a:t>Measured: the checksum gate drops random 12-digit strings from 100% to 8.08% — a 12x cut in false positives at no cost to recall.</a:t>
            </a:r>
          </a:p>
        </p:txBody>
      </p:sp>
      <p:sp>
        <p:nvSpPr>
          <p:cNvPr id="17411" name="Rounded Rectangle 17410"/>
          <p:cNvSpPr/>
          <p:nvPr/>
        </p:nvSpPr>
        <p:spPr>
          <a:xfrm>
            <a:off x="6263640" y="1188720"/>
            <a:ext cx="5440680" cy="4937760"/>
          </a:xfrm>
          <a:prstGeom prst="roundRect">
            <a:avLst/>
          </a:prstGeom>
          <a:solidFill>
            <a:srgbClr val="E6E9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12" name="TextBox 17411"/>
          <p:cNvSpPr txBox="1"/>
          <p:nvPr/>
        </p:nvSpPr>
        <p:spPr>
          <a:xfrm>
            <a:off x="6537960" y="1371600"/>
            <a:ext cx="4937760" cy="4572000"/>
          </a:xfrm>
          <a:prstGeom prst="rect">
            <a:avLst/>
          </a:prstGeom>
          <a:noFill/>
        </p:spPr>
        <p:txBody>
          <a:bodyPr wrap="square">
            <a:spAutoFit/>
          </a:bodyPr>
          <a:lstStyle/>
          <a:p>
            <a:pPr>
              <a:spcAft>
                <a:spcPts val="800"/>
              </a:spcAft>
            </a:pPr>
            <a:r>
              <a:rPr sz="1500" b="1">
                <a:solidFill>
                  <a:srgbClr val="2B3A8F"/>
                </a:solidFill>
              </a:rPr>
              <a:t>Stack</a:t>
            </a:r>
          </a:p>
          <a:p>
            <a:pPr>
              <a:spcAft>
                <a:spcPts val="400"/>
              </a:spcAft>
            </a:pPr>
            <a:r>
              <a:rPr sz="1200" b="0">
                <a:solidFill>
                  <a:srgbClr val="141B2E"/>
                </a:solidFill>
              </a:rPr>
              <a:t>Client   Chrome + Firefox extension, TypeScript</a:t>
            </a:r>
          </a:p>
          <a:p>
            <a:pPr>
              <a:spcAft>
                <a:spcPts val="400"/>
              </a:spcAft>
            </a:pPr>
            <a:r>
              <a:rPr sz="1200" b="0">
                <a:solidFill>
                  <a:srgbClr val="141B2E"/>
                </a:solidFill>
              </a:rPr>
              <a:t>On-device   ONNX Runtime Web on WebGPU, WASM fallback</a:t>
            </a:r>
          </a:p>
          <a:p>
            <a:pPr>
              <a:spcAft>
                <a:spcPts val="400"/>
              </a:spcAft>
            </a:pPr>
            <a:r>
              <a:rPr sz="1000" b="0">
                <a:solidFill>
                  <a:srgbClr val="141B2E"/>
                </a:solidFill>
              </a:rPr>
              <a:t>Vision   UltraFace 1.2 MB (faces) · MobileViT 21 MB (regions)</a:t>
            </a:r>
          </a:p>
          <a:p>
            <a:pPr>
              <a:spcAft>
                <a:spcPts val="1000"/>
              </a:spcAft>
            </a:pPr>
            <a:r>
              <a:rPr sz="1200" b="0">
                <a:solidFill>
                  <a:srgbClr val="141B2E"/>
                </a:solidFill>
              </a:rPr>
              <a:t>Server   FastAPI + Qwen2.5-VL 7B, open-weight</a:t>
            </a:r>
          </a:p>
          <a:p>
            <a:pPr>
              <a:spcAft>
                <a:spcPts val="1000"/>
              </a:spcAft>
            </a:pPr>
            <a:r>
              <a:rPr sz="1000" b="1">
                <a:solidFill>
                  <a:srgbClr val="1B7A3D"/>
                </a:solidFill>
              </a:rPr>
              <a:t>Runs entirely offline — the network can be unplugged.</a:t>
            </a:r>
          </a:p>
          <a:p>
            <a:pPr>
              <a:spcAft>
                <a:spcPts val="600"/>
              </a:spcAft>
            </a:pPr>
            <a:r>
              <a:rPr sz="1300" b="1">
                <a:solidFill>
                  <a:srgbClr val="B46A00"/>
                </a:solidFill>
              </a:rPr>
              <a:t>Chosen by measurement, not assumption</a:t>
            </a:r>
          </a:p>
          <a:p>
            <a:pPr>
              <a:spcAft>
                <a:spcPts val="200"/>
              </a:spcAft>
            </a:pPr>
            <a:r>
              <a:rPr sz="1200" b="0">
                <a:solidFill>
                  <a:srgbClr val="535C6B"/>
                </a:solidFill>
              </a:rPr>
              <a:t>Quantising the vision model to int8 made it 10x SLOWER on WebGPU (103 ms vs 10 ms): the backend has no native int8 path. fp32 is the correct choice and the smaller file is the trap.</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FEASIBILITY AND VIABILITY</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4</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12" name="Oval 11"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r>
              <a:rPr sz="1100" b="1">
                <a:solidFill>
                  <a:srgbClr val="B46A00"/>
                </a:solidFill>
              </a:rPr>
              <a:t>Vagabonds</a:t>
            </a:r>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7410" name="TextBox 17409"/>
          <p:cNvSpPr txBox="1"/>
          <p:nvPr/>
        </p:nvSpPr>
        <p:spPr>
          <a:xfrm>
            <a:off x="502920" y="1188720"/>
            <a:ext cx="5440680" cy="4937760"/>
          </a:xfrm>
          <a:prstGeom prst="rect">
            <a:avLst/>
          </a:prstGeom>
          <a:noFill/>
        </p:spPr>
        <p:txBody>
          <a:bodyPr wrap="square">
            <a:spAutoFit/>
          </a:bodyPr>
          <a:lstStyle/>
          <a:p>
            <a:pPr>
              <a:spcAft>
                <a:spcPts val="800"/>
              </a:spcAft>
            </a:pPr>
            <a:r>
              <a:rPr sz="1500" b="1">
                <a:solidFill>
                  <a:srgbClr val="1B7A3D"/>
                </a:solidFill>
              </a:rPr>
              <a:t>Built and working today</a:t>
            </a:r>
          </a:p>
          <a:p>
            <a:pPr>
              <a:spcAft>
                <a:spcPts val="400"/>
              </a:spcAft>
            </a:pPr>
            <a:r>
              <a:rPr sz="1200" b="0">
                <a:solidFill>
                  <a:srgbClr val="141B2E"/>
                </a:solidFill>
              </a:rPr>
              <a:t>•  Full loop running in Chrome AND Firefox</a:t>
            </a:r>
          </a:p>
          <a:p>
            <a:pPr>
              <a:spcAft>
                <a:spcPts val="400"/>
              </a:spcAft>
            </a:pPr>
            <a:r>
              <a:rPr sz="1200" b="0">
                <a:solidFill>
                  <a:srgbClr val="141B2E"/>
                </a:solidFill>
              </a:rPr>
              <a:t>•  On-device face detection and blurring</a:t>
            </a:r>
          </a:p>
          <a:p>
            <a:pPr>
              <a:spcAft>
                <a:spcPts val="400"/>
              </a:spcAft>
            </a:pPr>
            <a:r>
              <a:rPr sz="1200" b="0">
                <a:solidFill>
                  <a:srgbClr val="141B2E"/>
                </a:solidFill>
              </a:rPr>
              <a:t>•  Privacy Ledger with raw-payload inspection</a:t>
            </a:r>
          </a:p>
          <a:p>
            <a:pPr>
              <a:spcAft>
                <a:spcPts val="400"/>
              </a:spcAft>
            </a:pPr>
            <a:r>
              <a:rPr sz="1200" b="0">
                <a:solidFill>
                  <a:srgbClr val="141B2E"/>
                </a:solidFill>
              </a:rPr>
              <a:t>•  Hostile-page defences: 16 of 24 validator cases refused</a:t>
            </a:r>
          </a:p>
          <a:p>
            <a:pPr>
              <a:spcAft>
                <a:spcPts val="400"/>
              </a:spcAft>
            </a:pPr>
            <a:r>
              <a:rPr sz="1200" b="0">
                <a:solidFill>
                  <a:srgbClr val="141B2E"/>
                </a:solidFill>
              </a:rPr>
              <a:t>•  Graceful failure — 8/8 drills</a:t>
            </a:r>
          </a:p>
          <a:p>
            <a:pPr>
              <a:spcAft>
                <a:spcPts val="1200"/>
              </a:spcAft>
            </a:pPr>
            <a:r>
              <a:rPr sz="1200" b="0">
                <a:solidFill>
                  <a:srgbClr val="141B2E"/>
                </a:solidFill>
              </a:rPr>
              <a:t>•  Field labels in 11 Indian languages, not just English</a:t>
            </a:r>
          </a:p>
          <a:p>
            <a:pPr>
              <a:spcAft>
                <a:spcPts val="800"/>
              </a:spcAft>
            </a:pPr>
            <a:r>
              <a:rPr sz="1500" b="1">
                <a:solidFill>
                  <a:srgbClr val="B46A00"/>
                </a:solidFill>
              </a:rPr>
              <a:t>Challenges, and how they were handled</a:t>
            </a:r>
          </a:p>
          <a:p>
            <a:pPr>
              <a:spcAft>
                <a:spcPts val="600"/>
              </a:spcAft>
            </a:pPr>
            <a:r>
              <a:rPr sz="1200" b="0">
                <a:solidFill>
                  <a:srgbClr val="535C6B"/>
                </a:solidFill>
              </a:rPr>
              <a:t>Chrome's offscreen document is timer-throttled to ~1 s — a 16×16 canvas takes 1004 ms there. Work moved to an unthrottled context: 1083 ms → 65 ms.</a:t>
            </a:r>
          </a:p>
          <a:p>
            <a:pPr>
              <a:spcAft>
                <a:spcPts val="200"/>
              </a:spcAft>
            </a:pPr>
            <a:r>
              <a:rPr sz="1200" b="0">
                <a:solidFill>
                  <a:srgbClr val="535C6B"/>
                </a:solidFill>
              </a:rPr>
              <a:t>A hostile page could ask the agent to place a tag into an attacker's form; the client would resolve it. Closed by requiring the destination field to be independently classified as the same kind.</a:t>
            </a:r>
          </a:p>
        </p:txBody>
      </p:sp>
      <p:sp>
        <p:nvSpPr>
          <p:cNvPr id="17411" name="Rounded Rectangle 17410"/>
          <p:cNvSpPr/>
          <p:nvPr/>
        </p:nvSpPr>
        <p:spPr>
          <a:xfrm>
            <a:off x="6263640" y="1188720"/>
            <a:ext cx="5440680" cy="4937760"/>
          </a:xfrm>
          <a:prstGeom prst="roundRect">
            <a:avLst/>
          </a:prstGeom>
          <a:solidFill>
            <a:srgbClr val="E6E9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12" name="TextBox 17411"/>
          <p:cNvSpPr txBox="1"/>
          <p:nvPr/>
        </p:nvSpPr>
        <p:spPr>
          <a:xfrm>
            <a:off x="6537960" y="1371600"/>
            <a:ext cx="4937760" cy="457200"/>
          </a:xfrm>
          <a:prstGeom prst="rect">
            <a:avLst/>
          </a:prstGeom>
          <a:noFill/>
        </p:spPr>
        <p:txBody>
          <a:bodyPr wrap="square">
            <a:spAutoFit/>
          </a:bodyPr>
          <a:lstStyle/>
          <a:p>
            <a:pPr>
              <a:spcAft>
                <a:spcPts val="800"/>
              </a:spcAft>
            </a:pPr>
            <a:r>
              <a:rPr sz="1500" b="1">
                <a:solidFill>
                  <a:srgbClr val="2B3A8F"/>
                </a:solidFill>
              </a:rPr>
              <a:t>Performance — measured, both ends</a:t>
            </a:r>
          </a:p>
        </p:txBody>
      </p:sp>
      <p:sp>
        <p:nvSpPr>
          <p:cNvPr id="17413" name="TextBox 17412"/>
          <p:cNvSpPr txBox="1"/>
          <p:nvPr/>
        </p:nvSpPr>
        <p:spPr>
          <a:xfrm>
            <a:off x="6537960" y="1783080"/>
            <a:ext cx="2286000" cy="1737360"/>
          </a:xfrm>
          <a:prstGeom prst="rect">
            <a:avLst/>
          </a:prstGeom>
          <a:noFill/>
        </p:spPr>
        <p:txBody>
          <a:bodyPr wrap="square">
            <a:spAutoFit/>
          </a:bodyPr>
          <a:lstStyle/>
          <a:p>
            <a:pPr>
              <a:spcAft>
                <a:spcPts val="500"/>
              </a:spcAft>
            </a:pPr>
          </a:p>
          <a:p>
            <a:pPr>
              <a:spcAft>
                <a:spcPts val="500"/>
              </a:spcAft>
            </a:pPr>
            <a:r>
              <a:rPr sz="1200" b="0">
                <a:solidFill>
                  <a:srgbClr val="141B2E"/>
                </a:solidFill>
              </a:rPr>
              <a:t>turn total</a:t>
            </a:r>
          </a:p>
          <a:p>
            <a:pPr>
              <a:spcAft>
                <a:spcPts val="500"/>
              </a:spcAft>
            </a:pPr>
            <a:r>
              <a:rPr sz="1200" b="0">
                <a:solidFill>
                  <a:srgbClr val="141B2E"/>
                </a:solidFill>
              </a:rPr>
              <a:t>on-device vision</a:t>
            </a:r>
          </a:p>
          <a:p>
            <a:pPr>
              <a:spcAft>
                <a:spcPts val="500"/>
              </a:spcAft>
            </a:pPr>
            <a:r>
              <a:rPr sz="1200" b="0">
                <a:solidFill>
                  <a:srgbClr val="141B2E"/>
                </a:solidFill>
              </a:rPr>
              <a:t>payload sent</a:t>
            </a:r>
          </a:p>
        </p:txBody>
      </p:sp>
      <p:sp>
        <p:nvSpPr>
          <p:cNvPr id="17414" name="TextBox 17413"/>
          <p:cNvSpPr txBox="1"/>
          <p:nvPr/>
        </p:nvSpPr>
        <p:spPr>
          <a:xfrm>
            <a:off x="8823960" y="1783080"/>
            <a:ext cx="1234440" cy="1737360"/>
          </a:xfrm>
          <a:prstGeom prst="rect">
            <a:avLst/>
          </a:prstGeom>
          <a:noFill/>
        </p:spPr>
        <p:txBody>
          <a:bodyPr wrap="square">
            <a:spAutoFit/>
          </a:bodyPr>
          <a:lstStyle/>
          <a:p>
            <a:pPr algn="r">
              <a:spcAft>
                <a:spcPts val="500"/>
              </a:spcAft>
            </a:pPr>
            <a:r>
              <a:rPr sz="1200" b="1">
                <a:solidFill>
                  <a:srgbClr val="535C6B"/>
                </a:solidFill>
              </a:rPr>
              <a:t>dev machine</a:t>
            </a:r>
          </a:p>
          <a:p>
            <a:pPr algn="r">
              <a:spcAft>
                <a:spcPts val="500"/>
              </a:spcAft>
            </a:pPr>
            <a:r>
              <a:rPr sz="1200" b="0">
                <a:solidFill>
                  <a:srgbClr val="141B2E"/>
                </a:solidFill>
              </a:rPr>
              <a:t>3.7 s</a:t>
            </a:r>
          </a:p>
          <a:p>
            <a:pPr algn="r">
              <a:spcAft>
                <a:spcPts val="500"/>
              </a:spcAft>
            </a:pPr>
            <a:r>
              <a:rPr sz="1200" b="0">
                <a:solidFill>
                  <a:srgbClr val="141B2E"/>
                </a:solidFill>
              </a:rPr>
              <a:t>65 ms</a:t>
            </a:r>
          </a:p>
          <a:p>
            <a:pPr algn="r">
              <a:spcAft>
                <a:spcPts val="500"/>
              </a:spcAft>
            </a:pPr>
            <a:r>
              <a:rPr sz="1200" b="0">
                <a:solidFill>
                  <a:srgbClr val="141B2E"/>
                </a:solidFill>
              </a:rPr>
              <a:t>47 KB</a:t>
            </a:r>
          </a:p>
        </p:txBody>
      </p:sp>
      <p:sp>
        <p:nvSpPr>
          <p:cNvPr id="17415" name="TextBox 17414"/>
          <p:cNvSpPr txBox="1"/>
          <p:nvPr/>
        </p:nvSpPr>
        <p:spPr>
          <a:xfrm>
            <a:off x="10058400" y="1783080"/>
            <a:ext cx="1234440" cy="1737360"/>
          </a:xfrm>
          <a:prstGeom prst="rect">
            <a:avLst/>
          </a:prstGeom>
          <a:noFill/>
        </p:spPr>
        <p:txBody>
          <a:bodyPr wrap="square">
            <a:spAutoFit/>
          </a:bodyPr>
          <a:lstStyle/>
          <a:p>
            <a:pPr algn="r">
              <a:spcAft>
                <a:spcPts val="500"/>
              </a:spcAft>
            </a:pPr>
            <a:r>
              <a:rPr sz="1200" b="1">
                <a:solidFill>
                  <a:srgbClr val="535C6B"/>
                </a:solidFill>
              </a:rPr>
              <a:t>low-end laptop</a:t>
            </a:r>
          </a:p>
          <a:p>
            <a:pPr algn="r">
              <a:spcAft>
                <a:spcPts val="500"/>
              </a:spcAft>
            </a:pPr>
            <a:r>
              <a:rPr sz="1200" b="0">
                <a:solidFill>
                  <a:srgbClr val="141B2E"/>
                </a:solidFill>
              </a:rPr>
              <a:t>4.7 s</a:t>
            </a:r>
          </a:p>
          <a:p>
            <a:pPr algn="r">
              <a:spcAft>
                <a:spcPts val="500"/>
              </a:spcAft>
            </a:pPr>
            <a:r>
              <a:rPr sz="1200" b="0">
                <a:solidFill>
                  <a:srgbClr val="141B2E"/>
                </a:solidFill>
              </a:rPr>
              <a:t>~1030 ms</a:t>
            </a:r>
          </a:p>
          <a:p>
            <a:pPr algn="r">
              <a:spcAft>
                <a:spcPts val="500"/>
              </a:spcAft>
            </a:pPr>
            <a:r>
              <a:rPr sz="1200" b="0">
                <a:solidFill>
                  <a:srgbClr val="141B2E"/>
                </a:solidFill>
              </a:rPr>
              <a:t>47 KB</a:t>
            </a:r>
          </a:p>
        </p:txBody>
      </p:sp>
      <p:sp>
        <p:nvSpPr>
          <p:cNvPr id="17416" name="TextBox 17415"/>
          <p:cNvSpPr txBox="1"/>
          <p:nvPr/>
        </p:nvSpPr>
        <p:spPr>
          <a:xfrm>
            <a:off x="6537960" y="3337560"/>
            <a:ext cx="4937760" cy="2560320"/>
          </a:xfrm>
          <a:prstGeom prst="rect">
            <a:avLst/>
          </a:prstGeom>
          <a:noFill/>
        </p:spPr>
        <p:txBody>
          <a:bodyPr wrap="square">
            <a:spAutoFit/>
          </a:bodyPr>
          <a:lstStyle/>
          <a:p>
            <a:pPr>
              <a:spcAft>
                <a:spcPts val="1000"/>
              </a:spcAft>
            </a:pPr>
            <a:r>
              <a:rPr sz="900" b="0">
                <a:solidFill>
                  <a:srgbClr val="535C6B"/>
                </a:solidFill>
              </a:rPr>
              <a:t>Low-end figures are from a 6x CPU-throttled run, not an estimate.</a:t>
            </a:r>
          </a:p>
          <a:p>
            <a:pPr>
              <a:spcAft>
                <a:spcPts val="600"/>
              </a:spcAft>
            </a:pPr>
            <a:r>
              <a:rPr sz="1300" b="1">
                <a:solidFill>
                  <a:srgbClr val="B46A00"/>
                </a:solidFill>
              </a:rPr>
              <a:t>Honest limits</a:t>
            </a:r>
          </a:p>
          <a:p>
            <a:pPr>
              <a:spcAft>
                <a:spcPts val="400"/>
              </a:spcAft>
            </a:pPr>
            <a:r>
              <a:rPr sz="1200" b="0">
                <a:solidFill>
                  <a:srgbClr val="535C6B"/>
                </a:solidFill>
              </a:rPr>
              <a:t>•  Eleven languages have field vocabularies, but only Tamil and Bengali are backed by fixtures. The other eight need a native reader's review, and we say so rather than claim eleven.</a:t>
            </a:r>
          </a:p>
          <a:p>
            <a:pPr>
              <a:spcAft>
                <a:spcPts val="400"/>
              </a:spcAft>
            </a:pPr>
            <a:r>
              <a:rPr sz="1200" b="0">
                <a:solidFill>
                  <a:srgbClr val="535C6B"/>
                </a:solidFill>
              </a:rPr>
              <a:t>•  Names in running prose are Latin-only — the tokeniser does not segment Indic scripts. Form fields in all eleven do work.</a:t>
            </a:r>
          </a:p>
          <a:p>
            <a:pPr>
              <a:spcAft>
                <a:spcPts val="200"/>
              </a:spcAft>
            </a:pPr>
            <a:r>
              <a:rPr sz="1200" b="0">
                <a:solidFill>
                  <a:srgbClr val="535C6B"/>
                </a:solidFill>
              </a:rPr>
              <a:t>•  Test corpus is 14 tuned fixtures, 2 holdout and 4 real sites. Small, and stated as such: every page shape added has found a real defect — the newest found a leak through the screenshot.</a:t>
            </a:r>
          </a:p>
        </p:txBody>
      </p:sp>
    </p:spTree>
    <p:extLst>
      <p:ext uri="{BB962C8B-B14F-4D97-AF65-F5344CB8AC3E}">
        <p14:creationId xmlns:p14="http://schemas.microsoft.com/office/powerpoint/2010/main" val="37533879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IMPACT AND BENEFITS</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5</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12" name="Oval 11"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r>
              <a:rPr sz="1100" b="1">
                <a:solidFill>
                  <a:srgbClr val="B46A00"/>
                </a:solidFill>
              </a:rPr>
              <a:t>Vagabonds</a:t>
            </a:r>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7410" name="TextBox 17409"/>
          <p:cNvSpPr txBox="1"/>
          <p:nvPr/>
        </p:nvSpPr>
        <p:spPr>
          <a:xfrm>
            <a:off x="502920" y="1188720"/>
            <a:ext cx="5440680" cy="4937760"/>
          </a:xfrm>
          <a:prstGeom prst="rect">
            <a:avLst/>
          </a:prstGeom>
          <a:noFill/>
        </p:spPr>
        <p:txBody>
          <a:bodyPr wrap="square">
            <a:spAutoFit/>
          </a:bodyPr>
          <a:lstStyle/>
          <a:p>
            <a:pPr>
              <a:spcAft>
                <a:spcPts val="800"/>
              </a:spcAft>
            </a:pPr>
            <a:r>
              <a:rPr sz="1500" b="1">
                <a:solidFill>
                  <a:srgbClr val="2B3A8F"/>
                </a:solidFill>
              </a:rPr>
              <a:t>Who this unblocks</a:t>
            </a:r>
          </a:p>
          <a:p>
            <a:pPr>
              <a:spcAft>
                <a:spcPts val="1000"/>
              </a:spcAft>
            </a:pPr>
            <a:r>
              <a:rPr sz="1200" b="0">
                <a:solidFill>
                  <a:srgbClr val="535C6B"/>
                </a:solidFill>
              </a:rPr>
              <a:t>Browser AI agents are unusable anywhere the screen is sensitive — government departments, defence, banking, healthcare, and ISRO's own workflows. Not a preference: a policy bar.</a:t>
            </a:r>
          </a:p>
          <a:p>
            <a:pPr>
              <a:spcAft>
                <a:spcPts val="1200"/>
              </a:spcAft>
            </a:pPr>
            <a:r>
              <a:rPr sz="1200" b="1">
                <a:solidFill>
                  <a:srgbClr val="141B2E"/>
                </a:solidFill>
              </a:rPr>
              <a:t>This removes the bar rather than asking anyone to lower it.</a:t>
            </a:r>
          </a:p>
          <a:p>
            <a:pPr>
              <a:spcAft>
                <a:spcPts val="800"/>
              </a:spcAft>
            </a:pPr>
            <a:r>
              <a:rPr sz="1500" b="1">
                <a:solidFill>
                  <a:srgbClr val="2B3A8F"/>
                </a:solidFill>
              </a:rPr>
              <a:t>Wider benefit</a:t>
            </a:r>
          </a:p>
          <a:p>
            <a:pPr>
              <a:spcAft>
                <a:spcPts val="400"/>
              </a:spcAft>
            </a:pPr>
            <a:r>
              <a:rPr sz="1200" b="0">
                <a:solidFill>
                  <a:srgbClr val="141B2E"/>
                </a:solidFill>
              </a:rPr>
              <a:t>•  Citizens keep Aadhaar and PAN on their own device while still getting assistance</a:t>
            </a:r>
          </a:p>
          <a:p>
            <a:pPr>
              <a:spcAft>
                <a:spcPts val="400"/>
              </a:spcAft>
            </a:pPr>
            <a:r>
              <a:rPr sz="1000" b="0">
                <a:solidFill>
                  <a:srgbClr val="141B2E"/>
                </a:solidFill>
              </a:rPr>
              <a:t>•  Departments adopt AI assistance without a data-transfer review</a:t>
            </a:r>
          </a:p>
          <a:p>
            <a:pPr>
              <a:spcAft>
                <a:spcPts val="400"/>
              </a:spcAft>
            </a:pPr>
            <a:r>
              <a:rPr sz="1000" b="0">
                <a:solidFill>
                  <a:srgbClr val="141B2E"/>
                </a:solidFill>
              </a:rPr>
              <a:t>•  The redaction scheme is reusable by any agent, not just this one</a:t>
            </a:r>
          </a:p>
          <a:p>
            <a:pPr>
              <a:spcAft>
                <a:spcPts val="200"/>
              </a:spcAft>
            </a:pPr>
            <a:r>
              <a:rPr sz="1000" b="0">
                <a:solidFill>
                  <a:srgbClr val="141B2E"/>
                </a:solidFill>
              </a:rPr>
              <a:t>•  Sovereign by construction: open weights, runs on-premise</a:t>
            </a:r>
          </a:p>
        </p:txBody>
      </p:sp>
      <p:sp>
        <p:nvSpPr>
          <p:cNvPr id="17411" name="Rounded Rectangle 17410"/>
          <p:cNvSpPr/>
          <p:nvPr/>
        </p:nvSpPr>
        <p:spPr>
          <a:xfrm>
            <a:off x="6263640" y="1188720"/>
            <a:ext cx="5440680" cy="4937760"/>
          </a:xfrm>
          <a:prstGeom prst="roundRect">
            <a:avLst/>
          </a:prstGeom>
          <a:solidFill>
            <a:srgbClr val="E6E9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12" name="TextBox 17411"/>
          <p:cNvSpPr txBox="1"/>
          <p:nvPr/>
        </p:nvSpPr>
        <p:spPr>
          <a:xfrm>
            <a:off x="6537960" y="1371600"/>
            <a:ext cx="4937760" cy="457200"/>
          </a:xfrm>
          <a:prstGeom prst="rect">
            <a:avLst/>
          </a:prstGeom>
          <a:noFill/>
        </p:spPr>
        <p:txBody>
          <a:bodyPr wrap="square">
            <a:spAutoFit/>
          </a:bodyPr>
          <a:lstStyle/>
          <a:p>
            <a:pPr>
              <a:spcAft>
                <a:spcPts val="1000"/>
              </a:spcAft>
            </a:pPr>
            <a:r>
              <a:rPr sz="1500" b="1">
                <a:solidFill>
                  <a:srgbClr val="2B3A8F"/>
                </a:solidFill>
              </a:rPr>
              <a:t>Results on UNSEEN test pages</a:t>
            </a:r>
          </a:p>
        </p:txBody>
      </p:sp>
      <p:sp>
        <p:nvSpPr>
          <p:cNvPr id="17413" name="TextBox 17412"/>
          <p:cNvSpPr txBox="1"/>
          <p:nvPr/>
        </p:nvSpPr>
        <p:spPr>
          <a:xfrm>
            <a:off x="6537960" y="1783080"/>
            <a:ext cx="3520440" cy="2103120"/>
          </a:xfrm>
          <a:prstGeom prst="rect">
            <a:avLst/>
          </a:prstGeom>
          <a:noFill/>
        </p:spPr>
        <p:txBody>
          <a:bodyPr wrap="square">
            <a:spAutoFit/>
          </a:bodyPr>
          <a:lstStyle/>
          <a:p>
            <a:pPr>
              <a:spcAft>
                <a:spcPts val="500"/>
              </a:spcAft>
            </a:pPr>
            <a:r>
              <a:rPr sz="1300" b="0">
                <a:solidFill>
                  <a:srgbClr val="141B2E"/>
                </a:solidFill>
              </a:rPr>
              <a:t>Visual context accuracy</a:t>
            </a:r>
          </a:p>
          <a:p>
            <a:pPr>
              <a:spcAft>
                <a:spcPts val="500"/>
              </a:spcAft>
            </a:pPr>
            <a:r>
              <a:rPr sz="1300" b="0">
                <a:solidFill>
                  <a:srgbClr val="141B2E"/>
                </a:solidFill>
              </a:rPr>
              <a:t>PII detection precision</a:t>
            </a:r>
          </a:p>
          <a:p>
            <a:pPr>
              <a:spcAft>
                <a:spcPts val="500"/>
              </a:spcAft>
            </a:pPr>
            <a:r>
              <a:rPr sz="1300" b="0">
                <a:solidFill>
                  <a:srgbClr val="141B2E"/>
                </a:solidFill>
              </a:rPr>
              <a:t>PII detection recall</a:t>
            </a:r>
          </a:p>
          <a:p>
            <a:pPr>
              <a:spcAft>
                <a:spcPts val="500"/>
              </a:spcAft>
            </a:pPr>
            <a:r>
              <a:rPr sz="1300" b="0">
                <a:solidFill>
                  <a:srgbClr val="141B2E"/>
                </a:solidFill>
              </a:rPr>
              <a:t>Redaction precision</a:t>
            </a:r>
          </a:p>
          <a:p>
            <a:pPr>
              <a:spcAft>
                <a:spcPts val="500"/>
              </a:spcAft>
            </a:pPr>
            <a:r>
              <a:rPr sz="1300" b="1">
                <a:solidFill>
                  <a:srgbClr val="1B7A3D"/>
                </a:solidFill>
              </a:rPr>
              <a:t>Data leaks</a:t>
            </a:r>
          </a:p>
        </p:txBody>
      </p:sp>
      <p:sp>
        <p:nvSpPr>
          <p:cNvPr id="17414" name="TextBox 17413"/>
          <p:cNvSpPr txBox="1"/>
          <p:nvPr/>
        </p:nvSpPr>
        <p:spPr>
          <a:xfrm>
            <a:off x="10058400" y="1783080"/>
            <a:ext cx="1051560" cy="2103120"/>
          </a:xfrm>
          <a:prstGeom prst="rect">
            <a:avLst/>
          </a:prstGeom>
          <a:noFill/>
        </p:spPr>
        <p:txBody>
          <a:bodyPr wrap="square">
            <a:spAutoFit/>
          </a:bodyPr>
          <a:lstStyle/>
          <a:p>
            <a:pPr algn="r">
              <a:spcAft>
                <a:spcPts val="500"/>
              </a:spcAft>
            </a:pPr>
            <a:r>
              <a:rPr sz="1300" b="0">
                <a:solidFill>
                  <a:srgbClr val="141B2E"/>
                </a:solidFill>
              </a:rPr>
              <a:t>100%</a:t>
            </a:r>
          </a:p>
          <a:p>
            <a:pPr algn="r">
              <a:spcAft>
                <a:spcPts val="500"/>
              </a:spcAft>
            </a:pPr>
            <a:r>
              <a:rPr sz="1300" b="0">
                <a:solidFill>
                  <a:srgbClr val="141B2E"/>
                </a:solidFill>
              </a:rPr>
              <a:t>100%</a:t>
            </a:r>
          </a:p>
          <a:p>
            <a:pPr algn="r">
              <a:spcAft>
                <a:spcPts val="500"/>
              </a:spcAft>
            </a:pPr>
            <a:r>
              <a:rPr sz="1300" b="0">
                <a:solidFill>
                  <a:srgbClr val="141B2E"/>
                </a:solidFill>
              </a:rPr>
              <a:t>100%</a:t>
            </a:r>
          </a:p>
          <a:p>
            <a:pPr algn="r">
              <a:spcAft>
                <a:spcPts val="500"/>
              </a:spcAft>
            </a:pPr>
            <a:r>
              <a:rPr sz="1300" b="0">
                <a:solidFill>
                  <a:srgbClr val="141B2E"/>
                </a:solidFill>
              </a:rPr>
              <a:t>100%</a:t>
            </a:r>
          </a:p>
          <a:p>
            <a:pPr algn="r">
              <a:spcAft>
                <a:spcPts val="500"/>
              </a:spcAft>
            </a:pPr>
            <a:r>
              <a:rPr sz="1300" b="1">
                <a:solidFill>
                  <a:srgbClr val="1B7A3D"/>
                </a:solidFill>
              </a:rPr>
              <a:t>0</a:t>
            </a:r>
          </a:p>
        </p:txBody>
      </p:sp>
      <p:sp>
        <p:nvSpPr>
          <p:cNvPr id="17415" name="TextBox 17414"/>
          <p:cNvSpPr txBox="1"/>
          <p:nvPr/>
        </p:nvSpPr>
        <p:spPr>
          <a:xfrm>
            <a:off x="6537960" y="3383280"/>
            <a:ext cx="4937760" cy="2468880"/>
          </a:xfrm>
          <a:prstGeom prst="rect">
            <a:avLst/>
          </a:prstGeom>
          <a:noFill/>
        </p:spPr>
        <p:txBody>
          <a:bodyPr wrap="square">
            <a:spAutoFit/>
          </a:bodyPr>
          <a:lstStyle/>
          <a:p>
            <a:pPr>
              <a:spcAft>
                <a:spcPts val="600"/>
              </a:spcAft>
            </a:pPr>
            <a:r>
              <a:rPr sz="1200" b="0">
                <a:solidFill>
                  <a:srgbClr val="535C6B"/>
                </a:solidFill>
              </a:rPr>
              <a:t>These are the HOLDOUT numbers — pages written before any tuning and never optimised against, because the evaluation sites are revealed on the day.</a:t>
            </a:r>
          </a:p>
          <a:p>
            <a:pPr>
              <a:spcAft>
                <a:spcPts val="800"/>
              </a:spcAft>
            </a:pPr>
            <a:r>
              <a:rPr sz="900" b="0">
                <a:solidFill>
                  <a:srgbClr val="535C6B"/>
                </a:solidFill>
              </a:rPr>
              <a:t>The suite ships its own counterfactual: disabling the name layer drops holdout recall to 91.7% and tuned recall to 86.8%. The column is reproducible, not rounded.</a:t>
            </a:r>
          </a:p>
          <a:p>
            <a:pPr>
              <a:spcAft>
                <a:spcPts val="200"/>
              </a:spcAft>
            </a:pPr>
            <a:r>
              <a:rPr sz="900" b="0">
                <a:solidFill>
                  <a:srgbClr val="535C6B"/>
                </a:solidFill>
              </a:rPr>
              <a:t>Over-redaction is scored as heavily as leaking. A 12-digit order total that passes the Aadhaar checksum is deliberately NOT redacted.</a:t>
            </a:r>
          </a:p>
        </p:txBody>
      </p:sp>
    </p:spTree>
    <p:extLst>
      <p:ext uri="{BB962C8B-B14F-4D97-AF65-F5344CB8AC3E}">
        <p14:creationId xmlns:p14="http://schemas.microsoft.com/office/powerpoint/2010/main" val="29971441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RESEARCH  AND REFERENCES</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6</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9" name="Oval 8"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r>
              <a:rPr sz="1100" b="1">
                <a:solidFill>
                  <a:srgbClr val="B46A00"/>
                </a:solidFill>
              </a:rPr>
              <a:t>Vagabonds</a:t>
            </a:r>
          </a:p>
        </p:txBody>
      </p:sp>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7410" name="TextBox 17409"/>
          <p:cNvSpPr txBox="1"/>
          <p:nvPr/>
        </p:nvSpPr>
        <p:spPr>
          <a:xfrm>
            <a:off x="502920" y="1188720"/>
            <a:ext cx="5440680" cy="4937760"/>
          </a:xfrm>
          <a:prstGeom prst="rect">
            <a:avLst/>
          </a:prstGeom>
          <a:noFill/>
        </p:spPr>
        <p:txBody>
          <a:bodyPr wrap="square">
            <a:spAutoFit/>
          </a:bodyPr>
          <a:lstStyle/>
          <a:p>
            <a:pPr>
              <a:spcAft>
                <a:spcPts val="800"/>
              </a:spcAft>
            </a:pPr>
            <a:r>
              <a:rPr sz="1500" b="1">
                <a:solidFill>
                  <a:srgbClr val="2B3A8F"/>
                </a:solidFill>
              </a:rPr>
              <a:t>Standards and specifications</a:t>
            </a:r>
          </a:p>
          <a:p>
            <a:pPr>
              <a:spcAft>
                <a:spcPts val="400"/>
              </a:spcAft>
            </a:pPr>
            <a:r>
              <a:rPr sz="1000" b="0">
                <a:solidFill>
                  <a:srgbClr val="141B2E"/>
                </a:solidFill>
              </a:rPr>
              <a:t>•  W3C WebGPU; WebAssembly — on-device inference in the browser</a:t>
            </a:r>
          </a:p>
          <a:p>
            <a:pPr>
              <a:spcAft>
                <a:spcPts val="400"/>
              </a:spcAft>
            </a:pPr>
            <a:r>
              <a:rPr sz="1000" b="0">
                <a:solidFill>
                  <a:srgbClr val="141B2E"/>
                </a:solidFill>
              </a:rPr>
              <a:t>•  Chrome Manifest V3 offscreen documents; Firefox MV3 event pages</a:t>
            </a:r>
          </a:p>
          <a:p>
            <a:pPr>
              <a:spcAft>
                <a:spcPts val="400"/>
              </a:spcAft>
            </a:pPr>
            <a:r>
              <a:rPr sz="1000" b="0">
                <a:solidFill>
                  <a:srgbClr val="141B2E"/>
                </a:solidFill>
              </a:rPr>
              <a:t>•  WHATWG HTML autocomplete tokens; W3C ARIA — field semantics</a:t>
            </a:r>
          </a:p>
          <a:p>
            <a:pPr>
              <a:spcAft>
                <a:spcPts val="400"/>
              </a:spcAft>
            </a:pPr>
            <a:r>
              <a:rPr sz="1000" b="0">
                <a:solidFill>
                  <a:srgbClr val="141B2E"/>
                </a:solidFill>
              </a:rPr>
              <a:t>•  Verhoeff checksum (Aadhaar, UIDAI); Luhn, ISO/IEC 7812 (cards)</a:t>
            </a:r>
          </a:p>
          <a:p>
            <a:pPr>
              <a:spcAft>
                <a:spcPts val="1000"/>
              </a:spcAft>
            </a:pPr>
            <a:r>
              <a:rPr sz="1000" b="0">
                <a:solidFill>
                  <a:srgbClr val="141B2E"/>
                </a:solidFill>
              </a:rPr>
              <a:t>•  IT Act 2000 s.43A; DPDP Act 2023 — data minimisation</a:t>
            </a:r>
          </a:p>
          <a:p>
            <a:pPr>
              <a:spcAft>
                <a:spcPts val="800"/>
              </a:spcAft>
            </a:pPr>
            <a:r>
              <a:rPr sz="1500" b="1">
                <a:solidFill>
                  <a:srgbClr val="2B3A8F"/>
                </a:solidFill>
              </a:rPr>
              <a:t>Models — all open-weight</a:t>
            </a:r>
          </a:p>
          <a:p>
            <a:pPr>
              <a:spcAft>
                <a:spcPts val="400"/>
              </a:spcAft>
            </a:pPr>
            <a:r>
              <a:rPr sz="1200" b="0">
                <a:solidFill>
                  <a:srgbClr val="141B2E"/>
                </a:solidFill>
              </a:rPr>
              <a:t>•  UltraFace RFB-320 (ONNX Model Zoo, MIT) — 1.2 MB</a:t>
            </a:r>
          </a:p>
          <a:p>
            <a:pPr>
              <a:spcAft>
                <a:spcPts val="400"/>
              </a:spcAft>
            </a:pPr>
            <a:r>
              <a:rPr sz="1200" b="0">
                <a:solidFill>
                  <a:srgbClr val="141B2E"/>
                </a:solidFill>
              </a:rPr>
              <a:t>•  MobileViT-small — on-device region classification</a:t>
            </a:r>
          </a:p>
          <a:p>
            <a:pPr>
              <a:spcAft>
                <a:spcPts val="200"/>
              </a:spcAft>
            </a:pPr>
            <a:r>
              <a:rPr sz="1200" b="0">
                <a:solidFill>
                  <a:srgbClr val="141B2E"/>
                </a:solidFill>
              </a:rPr>
              <a:t>•  Qwen2.5-VL 7B — server reasoning, offline-deployable</a:t>
            </a:r>
          </a:p>
        </p:txBody>
      </p:sp>
      <p:sp>
        <p:nvSpPr>
          <p:cNvPr id="17411" name="Rounded Rectangle 17410"/>
          <p:cNvSpPr/>
          <p:nvPr/>
        </p:nvSpPr>
        <p:spPr>
          <a:xfrm>
            <a:off x="6263640" y="1188720"/>
            <a:ext cx="5440680" cy="4937760"/>
          </a:xfrm>
          <a:prstGeom prst="roundRect">
            <a:avLst/>
          </a:prstGeom>
          <a:solidFill>
            <a:srgbClr val="FDF0DC"/>
          </a:solidFill>
          <a:ln w="12700">
            <a:solidFill>
              <a:srgbClr val="B46A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12" name="TextBox 17411"/>
          <p:cNvSpPr txBox="1"/>
          <p:nvPr/>
        </p:nvSpPr>
        <p:spPr>
          <a:xfrm>
            <a:off x="6537960" y="1371600"/>
            <a:ext cx="4937760" cy="4572000"/>
          </a:xfrm>
          <a:prstGeom prst="rect">
            <a:avLst/>
          </a:prstGeom>
          <a:noFill/>
        </p:spPr>
        <p:txBody>
          <a:bodyPr wrap="square">
            <a:spAutoFit/>
          </a:bodyPr>
          <a:lstStyle/>
          <a:p>
            <a:pPr>
              <a:spcAft>
                <a:spcPts val="800"/>
              </a:spcAft>
            </a:pPr>
            <a:r>
              <a:rPr sz="1500" b="1">
                <a:solidFill>
                  <a:srgbClr val="B46A00"/>
                </a:solidFill>
              </a:rPr>
              <a:t>Prior art, and where we differ</a:t>
            </a:r>
          </a:p>
          <a:p>
            <a:pPr>
              <a:spcAft>
                <a:spcPts val="800"/>
              </a:spcAft>
            </a:pPr>
            <a:r>
              <a:rPr sz="1200" b="0">
                <a:solidFill>
                  <a:srgbClr val="535C6B"/>
                </a:solidFill>
              </a:rPr>
              <a:t>Browser agents (Claude for Chrome, OpenAI Operator, Browser Use) send screen context to a vendor's cloud. Capable, and unusable where the screen is sensitive.</a:t>
            </a:r>
          </a:p>
          <a:p>
            <a:pPr>
              <a:spcAft>
                <a:spcPts val="1000"/>
              </a:spcAft>
            </a:pPr>
            <a:r>
              <a:rPr sz="1000" b="0">
                <a:solidFill>
                  <a:srgbClr val="535C6B"/>
                </a:solidFill>
              </a:rPr>
              <a:t>Enterprise DLP redacts data in transit — after it has left the device, and without the page structure needed to redact precisely.</a:t>
            </a:r>
          </a:p>
          <a:p>
            <a:pPr>
              <a:spcAft>
                <a:spcPts val="1000"/>
              </a:spcAft>
            </a:pPr>
            <a:r>
              <a:rPr sz="1200" b="1">
                <a:solidFill>
                  <a:srgbClr val="141B2E"/>
                </a:solidFill>
              </a:rPr>
              <a:t>We redact ON the device, BEFORE transmission, using page structure the network layer never receives.</a:t>
            </a:r>
          </a:p>
          <a:p>
            <a:pPr>
              <a:spcAft>
                <a:spcPts val="600"/>
              </a:spcAft>
            </a:pPr>
            <a:r>
              <a:rPr sz="1300" b="1">
                <a:solidFill>
                  <a:srgbClr val="141B2E"/>
                </a:solidFill>
              </a:rPr>
              <a:t>Everything on these slides is reproducible</a:t>
            </a:r>
          </a:p>
          <a:p>
            <a:pPr>
              <a:spcAft>
                <a:spcPts val="200"/>
              </a:spcAft>
            </a:pPr>
            <a:r>
              <a:rPr sz="1200" b="0">
                <a:solidFill>
                  <a:srgbClr val="535C6B"/>
                </a:solidFill>
              </a:rPr>
              <a:t>Working code, test corpus, benchmark harness and the measurements behind every figure here.</a:t>
            </a:r>
          </a:p>
        </p:txBody>
      </p:sp>
    </p:spTree>
    <p:extLst>
      <p:ext uri="{BB962C8B-B14F-4D97-AF65-F5344CB8AC3E}">
        <p14:creationId xmlns:p14="http://schemas.microsoft.com/office/powerpoint/2010/main" val="39167886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7</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3" name="Round Diagonal Corner Rectangle 2"/>
          <p:cNvSpPr/>
          <p:nvPr/>
        </p:nvSpPr>
        <p:spPr>
          <a:xfrm>
            <a:off x="0" y="1791032"/>
            <a:ext cx="12192000" cy="4319200"/>
          </a:xfrm>
          <a:prstGeom prst="round2DiagRect">
            <a:avLst/>
          </a:prstGeom>
          <a:solidFill>
            <a:schemeClr val="accent1">
              <a:lumMod val="20000"/>
              <a:lumOff val="80000"/>
            </a:schemeClr>
          </a:solidFill>
          <a:ln w="38100"/>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12" name="Google Shape;100;p3"/>
          <p:cNvSpPr txBox="1"/>
          <p:nvPr/>
        </p:nvSpPr>
        <p:spPr>
          <a:xfrm>
            <a:off x="367832" y="1915454"/>
            <a:ext cx="11764736" cy="4070356"/>
          </a:xfrm>
          <a:prstGeom prst="rect">
            <a:avLst/>
          </a:prstGeom>
          <a:noFill/>
          <a:ln>
            <a:noFill/>
          </a:ln>
        </p:spPr>
        <p:txBody>
          <a:bodyPr spcFirstLastPara="1" wrap="square" lIns="91425" tIns="45700" rIns="91425" bIns="45700" anchor="t" anchorCtr="0">
            <a:noAutofit/>
          </a:bodyPr>
          <a:lstStyle/>
          <a:p>
            <a:pPr marL="514350" marR="0" lvl="0" indent="-514350" algn="just" rtl="0">
              <a:lnSpc>
                <a:spcPct val="90000"/>
              </a:lnSpc>
              <a:spcBef>
                <a:spcPts val="0"/>
              </a:spcBef>
              <a:spcAft>
                <a:spcPts val="0"/>
              </a:spcAft>
              <a:buClr>
                <a:schemeClr val="dk1"/>
              </a:buClr>
              <a:buSzPct val="100000"/>
              <a:buFont typeface="Calibri"/>
              <a:buAutoNum type="arabicPeriod"/>
            </a:pPr>
            <a:r>
              <a:rPr lang="en-US" b="1" i="0" u="none" strike="noStrike" cap="none" dirty="0">
                <a:solidFill>
                  <a:schemeClr val="dk1"/>
                </a:solidFill>
                <a:latin typeface="Arial" panose="020B0604020202020204" pitchFamily="34" charset="0"/>
                <a:ea typeface="Calibri"/>
                <a:cs typeface="Arial" panose="020B0604020202020204" pitchFamily="34" charset="0"/>
                <a:sym typeface="Calibri"/>
              </a:rPr>
              <a:t>Kindly keep the maximum slides limit up to six </a:t>
            </a:r>
            <a:r>
              <a:rPr lang="en-US" b="1" i="0" u="none" strike="noStrike" cap="none" dirty="0">
                <a:solidFill>
                  <a:srgbClr val="C00000"/>
                </a:solidFill>
                <a:latin typeface="Arial" panose="020B0604020202020204" pitchFamily="34" charset="0"/>
                <a:ea typeface="Calibri"/>
                <a:cs typeface="Arial" panose="020B0604020202020204" pitchFamily="34" charset="0"/>
                <a:sym typeface="Calibri"/>
              </a:rPr>
              <a:t>(6). </a:t>
            </a:r>
            <a:r>
              <a:rPr lang="en-US" b="1" i="0" u="none" strike="noStrike" cap="none" dirty="0">
                <a:solidFill>
                  <a:schemeClr val="dk1"/>
                </a:solidFill>
                <a:latin typeface="Arial" panose="020B0604020202020204" pitchFamily="34" charset="0"/>
                <a:ea typeface="Calibri"/>
                <a:cs typeface="Arial" panose="020B0604020202020204" pitchFamily="34" charset="0"/>
                <a:sym typeface="Calibri"/>
              </a:rPr>
              <a:t>( Including the </a:t>
            </a:r>
            <a:r>
              <a:rPr lang="en-US" b="1" i="0" u="none" strike="noStrike" cap="none">
                <a:solidFill>
                  <a:schemeClr val="dk1"/>
                </a:solidFill>
                <a:latin typeface="Arial" panose="020B0604020202020204" pitchFamily="34" charset="0"/>
                <a:ea typeface="Calibri"/>
                <a:cs typeface="Arial" panose="020B0604020202020204" pitchFamily="34" charset="0"/>
                <a:sym typeface="Calibri"/>
              </a:rPr>
              <a:t>title slide) </a:t>
            </a:r>
            <a:endParaRPr b="1" dirty="0">
              <a:latin typeface="Arial" panose="020B0604020202020204" pitchFamily="34" charset="0"/>
              <a:cs typeface="Arial" panose="020B0604020202020204" pitchFamily="34" charset="0"/>
            </a:endParaRPr>
          </a:p>
          <a:p>
            <a:pPr marL="514350" marR="0" lvl="0" indent="-514350" algn="just" rtl="0">
              <a:lnSpc>
                <a:spcPct val="90000"/>
              </a:lnSpc>
              <a:spcBef>
                <a:spcPts val="1000"/>
              </a:spcBef>
              <a:spcAft>
                <a:spcPts val="0"/>
              </a:spcAft>
              <a:buClr>
                <a:schemeClr val="dk1"/>
              </a:buClr>
              <a:buSzPct val="100000"/>
              <a:buFont typeface="Calibri"/>
              <a:buAutoNum type="arabicPeriod"/>
            </a:pPr>
            <a:r>
              <a:rPr lang="en-US" b="1" i="0" u="none" strike="noStrike" cap="none" dirty="0">
                <a:solidFill>
                  <a:schemeClr val="dk1"/>
                </a:solidFill>
                <a:latin typeface="Arial" panose="020B0604020202020204" pitchFamily="34" charset="0"/>
                <a:ea typeface="Calibri"/>
                <a:cs typeface="Arial" panose="020B0604020202020204" pitchFamily="34" charset="0"/>
                <a:sym typeface="Calibri"/>
              </a:rPr>
              <a:t>Try to avoid paragraphs and post your idea in points /diagrams / Infographics /pictures </a:t>
            </a:r>
            <a:endParaRPr b="1" dirty="0">
              <a:latin typeface="Arial" panose="020B0604020202020204" pitchFamily="34" charset="0"/>
              <a:cs typeface="Arial" panose="020B0604020202020204" pitchFamily="34" charset="0"/>
            </a:endParaRPr>
          </a:p>
          <a:p>
            <a:pPr marL="514350" marR="0" lvl="0" indent="-514350" algn="just" rtl="0">
              <a:lnSpc>
                <a:spcPct val="90000"/>
              </a:lnSpc>
              <a:spcBef>
                <a:spcPts val="1000"/>
              </a:spcBef>
              <a:spcAft>
                <a:spcPts val="0"/>
              </a:spcAft>
              <a:buClr>
                <a:schemeClr val="dk1"/>
              </a:buClr>
              <a:buSzPct val="100000"/>
              <a:buFont typeface="Calibri"/>
              <a:buAutoNum type="arabicPeriod"/>
            </a:pPr>
            <a:r>
              <a:rPr lang="en-US" b="1" i="0" u="none" strike="noStrike" cap="none" dirty="0">
                <a:solidFill>
                  <a:schemeClr val="dk1"/>
                </a:solidFill>
                <a:latin typeface="Arial" panose="020B0604020202020204" pitchFamily="34" charset="0"/>
                <a:ea typeface="Calibri"/>
                <a:cs typeface="Arial" panose="020B0604020202020204" pitchFamily="34" charset="0"/>
                <a:sym typeface="Calibri"/>
              </a:rPr>
              <a:t>Keep your explanation precise and easy to understand</a:t>
            </a:r>
            <a:endParaRPr b="1" dirty="0">
              <a:latin typeface="Arial" panose="020B0604020202020204" pitchFamily="34" charset="0"/>
              <a:cs typeface="Arial" panose="020B0604020202020204" pitchFamily="34" charset="0"/>
            </a:endParaRPr>
          </a:p>
          <a:p>
            <a:pPr marL="514350" marR="0" lvl="0" indent="-514350" algn="just" rtl="0">
              <a:lnSpc>
                <a:spcPct val="90000"/>
              </a:lnSpc>
              <a:spcBef>
                <a:spcPts val="1000"/>
              </a:spcBef>
              <a:spcAft>
                <a:spcPts val="0"/>
              </a:spcAft>
              <a:buClr>
                <a:schemeClr val="dk1"/>
              </a:buClr>
              <a:buSzPct val="100000"/>
              <a:buFont typeface="Calibri"/>
              <a:buAutoNum type="arabicPeriod"/>
            </a:pPr>
            <a:r>
              <a:rPr lang="en-US" b="1" i="0" u="none" strike="noStrike" cap="none" dirty="0">
                <a:solidFill>
                  <a:schemeClr val="dk1"/>
                </a:solidFill>
                <a:latin typeface="Arial" panose="020B0604020202020204" pitchFamily="34" charset="0"/>
                <a:ea typeface="Calibri"/>
                <a:cs typeface="Arial" panose="020B0604020202020204" pitchFamily="34" charset="0"/>
                <a:sym typeface="Calibri"/>
              </a:rPr>
              <a:t>Idea should be unique and novel. </a:t>
            </a:r>
            <a:endParaRPr b="1" dirty="0">
              <a:latin typeface="Arial" panose="020B0604020202020204" pitchFamily="34" charset="0"/>
              <a:cs typeface="Arial" panose="020B0604020202020204" pitchFamily="34" charset="0"/>
            </a:endParaRPr>
          </a:p>
          <a:p>
            <a:pPr marL="514350" marR="0" lvl="0" indent="-514350" algn="just" rtl="0">
              <a:lnSpc>
                <a:spcPct val="90000"/>
              </a:lnSpc>
              <a:spcBef>
                <a:spcPts val="1000"/>
              </a:spcBef>
              <a:spcAft>
                <a:spcPts val="0"/>
              </a:spcAft>
              <a:buClr>
                <a:schemeClr val="dk1"/>
              </a:buClr>
              <a:buSzPct val="100000"/>
              <a:buFont typeface="Calibri"/>
              <a:buAutoNum type="arabicPeriod"/>
            </a:pPr>
            <a:r>
              <a:rPr lang="en-US" b="1" i="0" u="none" strike="noStrike" cap="none" dirty="0">
                <a:solidFill>
                  <a:schemeClr val="dk1"/>
                </a:solidFill>
                <a:latin typeface="Arial" panose="020B0604020202020204" pitchFamily="34" charset="0"/>
                <a:ea typeface="Calibri"/>
                <a:cs typeface="Arial" panose="020B0604020202020204" pitchFamily="34" charset="0"/>
                <a:sym typeface="Calibri"/>
              </a:rPr>
              <a:t>You can only use provided </a:t>
            </a:r>
            <a:r>
              <a:rPr lang="en-US" b="1" dirty="0">
                <a:solidFill>
                  <a:schemeClr val="dk1"/>
                </a:solidFill>
                <a:latin typeface="Arial" panose="020B0604020202020204" pitchFamily="34" charset="0"/>
                <a:ea typeface="Calibri"/>
                <a:cs typeface="Arial" panose="020B0604020202020204" pitchFamily="34" charset="0"/>
                <a:sym typeface="Calibri"/>
              </a:rPr>
              <a:t>template</a:t>
            </a:r>
            <a:r>
              <a:rPr lang="en-US" b="1" i="0" u="none" strike="noStrike" cap="none" dirty="0">
                <a:solidFill>
                  <a:schemeClr val="dk1"/>
                </a:solidFill>
                <a:latin typeface="Arial" panose="020B0604020202020204" pitchFamily="34" charset="0"/>
                <a:ea typeface="Calibri"/>
                <a:cs typeface="Arial" panose="020B0604020202020204" pitchFamily="34" charset="0"/>
                <a:sym typeface="Calibri"/>
              </a:rPr>
              <a:t> for making the </a:t>
            </a:r>
            <a:r>
              <a:rPr lang="en-US" b="1" dirty="0">
                <a:solidFill>
                  <a:schemeClr val="dk1"/>
                </a:solidFill>
                <a:latin typeface="Arial" panose="020B0604020202020204" pitchFamily="34" charset="0"/>
                <a:ea typeface="Calibri"/>
                <a:cs typeface="Arial" panose="020B0604020202020204" pitchFamily="34" charset="0"/>
                <a:sym typeface="Calibri"/>
              </a:rPr>
              <a:t>PPT</a:t>
            </a:r>
            <a:r>
              <a:rPr lang="en-US" b="1" i="0" u="none" strike="noStrike" cap="none" dirty="0">
                <a:solidFill>
                  <a:schemeClr val="dk1"/>
                </a:solidFill>
                <a:latin typeface="Arial" panose="020B0604020202020204" pitchFamily="34" charset="0"/>
                <a:ea typeface="Calibri"/>
                <a:cs typeface="Arial" panose="020B0604020202020204" pitchFamily="34" charset="0"/>
                <a:sym typeface="Calibri"/>
              </a:rPr>
              <a:t> without changing the idea details pointers (mentioned in previous slides).</a:t>
            </a:r>
            <a:endParaRPr b="1" i="0" u="none" strike="noStrike" cap="none" dirty="0">
              <a:solidFill>
                <a:schemeClr val="dk1"/>
              </a:solidFill>
              <a:latin typeface="Arial" panose="020B0604020202020204" pitchFamily="34" charset="0"/>
              <a:ea typeface="Calibri"/>
              <a:cs typeface="Arial" panose="020B0604020202020204" pitchFamily="34" charset="0"/>
              <a:sym typeface="Calibri"/>
            </a:endParaRPr>
          </a:p>
          <a:p>
            <a:pPr marL="514350" marR="0" lvl="0" indent="-514350" algn="just" rtl="0">
              <a:lnSpc>
                <a:spcPct val="90000"/>
              </a:lnSpc>
              <a:spcBef>
                <a:spcPts val="1000"/>
              </a:spcBef>
              <a:spcAft>
                <a:spcPts val="0"/>
              </a:spcAft>
              <a:buClr>
                <a:schemeClr val="dk1"/>
              </a:buClr>
              <a:buSzPct val="100000"/>
              <a:buFont typeface="Calibri"/>
              <a:buAutoNum type="arabicPeriod"/>
            </a:pPr>
            <a:r>
              <a:rPr lang="en-US" b="1" i="0" u="none" strike="noStrike" cap="none" dirty="0">
                <a:solidFill>
                  <a:schemeClr val="dk1"/>
                </a:solidFill>
                <a:latin typeface="Arial" panose="020B0604020202020204" pitchFamily="34" charset="0"/>
                <a:ea typeface="Calibri"/>
                <a:cs typeface="Arial" panose="020B0604020202020204" pitchFamily="34" charset="0"/>
                <a:sym typeface="Calibri"/>
              </a:rPr>
              <a:t>You need to save the file in PDF and upload the same on portal. No PPT, Word Doc or any other format will be supported.</a:t>
            </a:r>
            <a:endParaRPr b="1" dirty="0">
              <a:latin typeface="Arial" panose="020B0604020202020204" pitchFamily="34" charset="0"/>
              <a:cs typeface="Arial" panose="020B0604020202020204" pitchFamily="34" charset="0"/>
            </a:endParaRPr>
          </a:p>
          <a:p>
            <a:pPr marL="514350" marR="0" lvl="0" indent="-349885" algn="just" rtl="0">
              <a:lnSpc>
                <a:spcPct val="90000"/>
              </a:lnSpc>
              <a:spcBef>
                <a:spcPts val="1000"/>
              </a:spcBef>
              <a:spcAft>
                <a:spcPts val="0"/>
              </a:spcAft>
              <a:buClr>
                <a:schemeClr val="dk1"/>
              </a:buClr>
              <a:buSzPct val="100000"/>
              <a:buFont typeface="Calibri"/>
              <a:buNone/>
            </a:pPr>
            <a:endParaRPr b="1" i="0" u="none" strike="noStrike" cap="none" dirty="0">
              <a:solidFill>
                <a:schemeClr val="dk1"/>
              </a:solidFill>
              <a:latin typeface="Arial" panose="020B0604020202020204" pitchFamily="34" charset="0"/>
              <a:ea typeface="Calibri"/>
              <a:cs typeface="Arial" panose="020B0604020202020204" pitchFamily="34" charset="0"/>
              <a:sym typeface="Calibri"/>
            </a:endParaRPr>
          </a:p>
          <a:p>
            <a:pPr marL="0" marR="0" lvl="0" indent="0" algn="just" rtl="0">
              <a:lnSpc>
                <a:spcPct val="90000"/>
              </a:lnSpc>
              <a:spcBef>
                <a:spcPts val="1000"/>
              </a:spcBef>
              <a:spcAft>
                <a:spcPts val="0"/>
              </a:spcAft>
              <a:buClr>
                <a:schemeClr val="dk1"/>
              </a:buClr>
              <a:buSzPct val="100000"/>
              <a:buFont typeface="Arial"/>
              <a:buNone/>
            </a:pPr>
            <a:r>
              <a:rPr lang="en-US" b="1" i="0" u="none" strike="noStrike" cap="none" dirty="0">
                <a:solidFill>
                  <a:srgbClr val="C00000"/>
                </a:solidFill>
                <a:latin typeface="Arial" panose="020B0604020202020204" pitchFamily="34" charset="0"/>
                <a:ea typeface="Calibri"/>
                <a:cs typeface="Arial" panose="020B0604020202020204" pitchFamily="34" charset="0"/>
                <a:sym typeface="Calibri"/>
              </a:rPr>
              <a:t>Note - You can delete this slide (Important Pointers) when you upload the details of your idea on SIH portal.</a:t>
            </a:r>
            <a:endParaRPr b="1" dirty="0">
              <a:solidFill>
                <a:srgbClr val="C00000"/>
              </a:solidFill>
              <a:latin typeface="Arial" panose="020B0604020202020204" pitchFamily="34" charset="0"/>
              <a:cs typeface="Arial" panose="020B0604020202020204" pitchFamily="34" charset="0"/>
            </a:endParaRPr>
          </a:p>
          <a:p>
            <a:pPr marL="914400" marR="0" lvl="1" indent="-316230" algn="just" rtl="0">
              <a:lnSpc>
                <a:spcPct val="90000"/>
              </a:lnSpc>
              <a:spcBef>
                <a:spcPts val="500"/>
              </a:spcBef>
              <a:spcAft>
                <a:spcPts val="0"/>
              </a:spcAft>
              <a:buClr>
                <a:schemeClr val="dk1"/>
              </a:buClr>
              <a:buSzPct val="100000"/>
              <a:buFont typeface="Calibri"/>
              <a:buNone/>
            </a:pPr>
            <a:endParaRPr sz="2000" b="1" i="0" u="none" strike="noStrike" cap="none" dirty="0">
              <a:solidFill>
                <a:schemeClr val="dk1"/>
              </a:solidFill>
              <a:latin typeface="Arial" panose="020B0604020202020204" pitchFamily="34" charset="0"/>
              <a:ea typeface="Calibri"/>
              <a:cs typeface="Arial" panose="020B0604020202020204" pitchFamily="34" charset="0"/>
              <a:sym typeface="Calibri"/>
            </a:endParaRPr>
          </a:p>
        </p:txBody>
      </p:sp>
      <p:sp>
        <p:nvSpPr>
          <p:cNvPr id="4" name="TextBox 3"/>
          <p:cNvSpPr txBox="1"/>
          <p:nvPr/>
        </p:nvSpPr>
        <p:spPr>
          <a:xfrm>
            <a:off x="1393371" y="107066"/>
            <a:ext cx="8410540" cy="646331"/>
          </a:xfrm>
          <a:prstGeom prst="rect">
            <a:avLst/>
          </a:prstGeom>
          <a:noFill/>
        </p:spPr>
        <p:txBody>
          <a:bodyPr wrap="square" rtlCol="0">
            <a:spAutoFit/>
          </a:bodyPr>
          <a:lstStyle/>
          <a:p>
            <a:pPr algn="ctr"/>
            <a:r>
              <a:rPr lang="en-US" sz="3600" b="1" dirty="0">
                <a:latin typeface="Times New Roman" panose="02020603050405020304" pitchFamily="18" charset="0"/>
                <a:cs typeface="Times New Roman" panose="02020603050405020304" pitchFamily="18" charset="0"/>
              </a:rPr>
              <a:t>IMPORTANT INSTRUCTIONS</a:t>
            </a:r>
            <a:endParaRPr lang="en-IN" sz="3600" b="1" dirty="0">
              <a:latin typeface="Times New Roman" panose="02020603050405020304" pitchFamily="18" charset="0"/>
              <a:cs typeface="Times New Roman" panose="02020603050405020304" pitchFamily="18" charset="0"/>
            </a:endParaRPr>
          </a:p>
        </p:txBody>
      </p:sp>
      <p:sp>
        <p:nvSpPr>
          <p:cNvPr id="5" name="TextBox 4"/>
          <p:cNvSpPr txBox="1"/>
          <p:nvPr/>
        </p:nvSpPr>
        <p:spPr>
          <a:xfrm>
            <a:off x="602343" y="1181900"/>
            <a:ext cx="9557657" cy="341632"/>
          </a:xfrm>
          <a:prstGeom prst="rect">
            <a:avLst/>
          </a:prstGeom>
          <a:noFill/>
        </p:spPr>
        <p:txBody>
          <a:bodyPr wrap="square" rtlCol="0">
            <a:spAutoFit/>
          </a:bodyPr>
          <a:lstStyle/>
          <a:p>
            <a:pPr algn="just">
              <a:lnSpc>
                <a:spcPct val="90000"/>
              </a:lnSpc>
              <a:spcBef>
                <a:spcPts val="1000"/>
              </a:spcBef>
              <a:spcAft>
                <a:spcPts val="0"/>
              </a:spcAft>
              <a:buClr>
                <a:schemeClr val="dk1"/>
              </a:buClr>
              <a:buSzPct val="100000"/>
            </a:pPr>
            <a:r>
              <a:rPr lang="en-US" b="1" dirty="0">
                <a:solidFill>
                  <a:schemeClr val="dk1"/>
                </a:solidFill>
                <a:latin typeface="Arial" panose="020B0604020202020204" pitchFamily="34" charset="0"/>
                <a:ea typeface="Calibri"/>
                <a:cs typeface="Arial" panose="020B0604020202020204" pitchFamily="34" charset="0"/>
              </a:rPr>
              <a:t>Please ensure below pointers are met while submitting the Idea PPT:</a:t>
            </a:r>
            <a:endParaRPr lang="en-IN" b="1" dirty="0">
              <a:solidFill>
                <a:schemeClr val="dk1"/>
              </a:solidFill>
              <a:latin typeface="Arial" panose="020B0604020202020204" pitchFamily="34" charset="0"/>
              <a:ea typeface="Calibri"/>
              <a:cs typeface="Arial" panose="020B0604020202020204" pitchFamily="34" charset="0"/>
            </a:endParaRPr>
          </a:p>
        </p:txBody>
      </p:sp>
      <p:pic>
        <p:nvPicPr>
          <p:cNvPr id="13" name="Picture 1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Tree>
    <p:extLst>
      <p:ext uri="{BB962C8B-B14F-4D97-AF65-F5344CB8AC3E}">
        <p14:creationId xmlns:p14="http://schemas.microsoft.com/office/powerpoint/2010/main" val="158808441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7489</TotalTime>
  <Words>325</Words>
  <Application>Microsoft Office PowerPoint</Application>
  <PresentationFormat>Widescreen</PresentationFormat>
  <Paragraphs>62</Paragraphs>
  <Slides>7</Slides>
  <Notes>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7</vt:i4>
      </vt:variant>
    </vt:vector>
  </HeadingPairs>
  <TitlesOfParts>
    <vt:vector size="15" baseType="lpstr">
      <vt:lpstr>ＭＳ Ｐゴシック</vt:lpstr>
      <vt:lpstr>Arial</vt:lpstr>
      <vt:lpstr>Calibri</vt:lpstr>
      <vt:lpstr>Garamond</vt:lpstr>
      <vt:lpstr>Times New Roman</vt:lpstr>
      <vt:lpstr>TradeGothic</vt:lpstr>
      <vt:lpstr>Wingdings</vt:lpstr>
      <vt:lpstr>Office Theme</vt:lpstr>
      <vt:lpstr>SMART INDIA HACKATHON 2026</vt:lpstr>
      <vt:lpstr> IDEA TITLE</vt:lpstr>
      <vt:lpstr>TECHNICAL APPROACH</vt:lpstr>
      <vt:lpstr>FEASIBILITY AND VIABILITY</vt:lpstr>
      <vt:lpstr>IMPACT AND BENEFITS</vt:lpstr>
      <vt:lpstr>RESEARCH  AND REFERENCES</vt:lpstr>
      <vt:lpstr>PowerPoint Presentation</vt:lpstr>
    </vt:vector>
  </TitlesOfParts>
  <Manager/>
  <Company>Crowdfunder, Inc.</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Investor Pitch Deck Template</dc:title>
  <dc:subject/>
  <dc:creator>Crowdfunder</dc:creator>
  <cp:keywords/>
  <dc:description/>
  <cp:lastModifiedBy>AICTE</cp:lastModifiedBy>
  <cp:revision>148</cp:revision>
  <dcterms:created xsi:type="dcterms:W3CDTF">2013-12-12T18:46:50Z</dcterms:created>
  <dcterms:modified xsi:type="dcterms:W3CDTF">2026-06-02T09:29:39Z</dcterms:modified>
  <cp:category/>
</cp:coreProperties>
</file>